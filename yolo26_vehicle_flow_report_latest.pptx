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指标</c:f>
              <c:strCache>
                <c:ptCount val="1"/>
                <c:pt idx="0">
                  <c:v>指标</c:v>
                </c:pt>
              </c:strCache>
            </c:strRef>
          </c:tx>
          <c:spPr>
            <a:solidFill>
              <a:srgbClr val="D8A53A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{"Precision","Recall","mAP@0.5","mAP@0.5:0.95"}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mAP@0.5</c:v>
                </c:pt>
                <c:pt idx="3">
                  <c:v>mAP@0.5:0.95</c:v>
                </c:pt>
              </c:strCache>
            </c:strRef>
          </c:cat>
          <c:val>
            <c:numRef>
              <c:f>{80.37,67.22,63.62,49.82}</c:f>
              <c:numCache>
                <c:formatCode>0\'%\'</c:formatCode>
                <c:ptCount val="4"/>
                <c:pt idx="0">
                  <c:v>80.37</c:v>
                </c:pt>
                <c:pt idx="1">
                  <c:v>67.22</c:v>
                </c:pt>
                <c:pt idx="2">
                  <c:v>63.62</c:v>
                </c:pt>
                <c:pt idx="3">
                  <c:v>49.82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25" b="0" i="0" u="none" strike="noStrike" kern="1200" baseline="0">
                <a:solidFill>
                  <a:srgbClr val="334155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w="9525">
              <a:solidFill>
                <a:srgbClr val="E2E8F0"/>
              </a:solidFill>
              <a:prstDash val="solid"/>
              <a:round/>
            </a:ln>
          </c:spPr>
        </c:majorGridlines>
        <c:numFmt formatCode="0\'%\'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25" b="0" i="0" u="none" strike="noStrike" kern="1200" baseline="0">
                <a:solidFill>
                  <a:srgbClr val="334155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8FAFC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9e506522-efc5-449c-bec5-838b2d605f09}"/>
      </c:ext>
    </c:extLst>
  </c:chart>
  <c:spPr>
    <a:solidFill>
      <a:srgbClr val="F8FAFC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车辆数</c:f>
              <c:strCache>
                <c:ptCount val="1"/>
                <c:pt idx="0">
                  <c:v>车辆数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E96A5E"/>
              </a:solidFill>
            </c:spPr>
          </c:dPt>
          <c:dPt>
            <c:idx val="1"/>
            <c:bubble3D val="0"/>
            <c:spPr>
              <a:solidFill>
                <a:srgbClr val="20C7B4"/>
              </a:solidFill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{"上行 OUT","下行 IN"}</c:f>
              <c:strCache>
                <c:ptCount val="2"/>
                <c:pt idx="0">
                  <c:v>上行 OUT</c:v>
                </c:pt>
                <c:pt idx="1">
                  <c:v>下行 IN</c:v>
                </c:pt>
              </c:strCache>
            </c:strRef>
          </c:cat>
          <c:val>
            <c:numRef>
              <c:f>{6,9}</c:f>
              <c:numCache>
                <c:formatCode>General</c:formatCode>
                <c:ptCount val="2"/>
                <c:pt idx="0">
                  <c:v>6</c:v>
                </c:pt>
                <c:pt idx="1">
                  <c:v>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0"/>
        </c:dLbls>
        <c:firstSliceAng val="0"/>
        <c:holeSize val="56"/>
      </c:doughnutChart>
      <c:spPr>
        <a:solidFill>
          <a:srgbClr val="111C2A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8cc26bbc-e631-4d23-9f9f-459e83fec7f9}"/>
      </c:ext>
    </c:extLst>
  </c:chart>
  <c:spPr>
    <a:solidFill>
      <a:srgbClr val="111C2A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开场说明这是一个从模型训练到桌面端交付的完整课程实践。</a:t>
            </a:r>
          </a:p>
          <a:p>
            <a:r>
              <a:t>强调 YOLO26、ONNX Runtime、跟踪计数和 PyInstaller 打包四个关键词。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先讲问题，不急着讲模型。</a:t>
            </a:r>
          </a:p>
          <a:p>
            <a:r>
              <a:t>把痛点落到实时、遮挡、工程闭环三个方面。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用四个模块概括项目贡献。</a:t>
            </a:r>
          </a:p>
          <a:p>
            <a:r>
              <a:t>最后一句点出这不是单独算法，而是可交付系统。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按上方四层和下方工作流程解释。</a:t>
            </a:r>
          </a:p>
          <a:p>
            <a:r>
              <a:t>突出光流分析自动判断车流方向和检测线位置。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解释为什么选择 YOLO26n：轻量、实时、适合 ONNX。</a:t>
            </a:r>
          </a:p>
          <a:p>
            <a:r>
              <a:t>注意论文官方速度提升用于说明趋势，项目实测指标在后面给出。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简要交代数据规模、训练方式和评价指标。</a:t>
            </a:r>
          </a:p>
          <a:p>
            <a:r>
              <a:t>这页不展开损失曲线，重点服务后面的指标页。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Precision 高，说明误检少。</a:t>
            </a:r>
          </a:p>
          <a:p>
            <a:r>
              <a:t>Recall 和 mAP@0.5:0.95 是后续改进重点，尤其遮挡和小目标。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讲清楚 ONNX 只包含检测能力。</a:t>
            </a:r>
          </a:p>
          <a:p>
            <a:r>
              <a:t>跟踪计数放在应用层，减少模型导出复杂度。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重点解释为什么要跟踪 ID：避免同一辆车被重复计数。</a:t>
            </a:r>
          </a:p>
          <a:p>
            <a:r>
              <a:t>线条支持播放时拖动，这是交互优化亮点。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界面现在偏可交付桌面软件风格，不是强科技感模板。</a:t>
            </a:r>
          </a:p>
          <a:p>
            <a:r>
              <a:t>右侧统计卡片固定在顶部，便于演示时随时看指标。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这页展示前端/UI 修改成果。</a:t>
            </a:r>
          </a:p>
          <a:p>
            <a:r>
              <a:t>可以说明这些改动不改变功能，但提升可用性和演示稳定性。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新版报告指标：500 帧测试视频，总计 15 辆，上行 6 辆、下行 9 辆，平均车速 21.9 km/h。</a:t>
            </a:r>
          </a:p>
          <a:p>
            <a:r>
              <a:t>环状图补充数值和占比，避免原先左侧白底区域显得空。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明确 exe 打包的是 app，不是训练源码。</a:t>
            </a:r>
          </a:p>
          <a:p>
            <a:r>
              <a:t>说明 PyInstaller 解决依赖和模型路径问题。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这页要诚实呈现不足，尤其召回率和遮挡场景。</a:t>
            </a:r>
          </a:p>
          <a:p>
            <a:r>
              <a:t>展望部分对应算法、跟踪、部署和功能四条线。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收束到四个结果：指标、实时速度、统计结果和可交付应用。</a:t>
            </a:r>
          </a:p>
          <a:p>
            <a:r>
              <a:t>最后进入提问。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018"/>
            </a:gs>
            <a:gs pos="58000">
              <a:srgbClr val="0E1724"/>
            </a:gs>
            <a:gs pos="100000">
              <a:srgbClr val="071018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0233A">
                  <a:alpha val="50000"/>
                </a:srgbClr>
              </a:gs>
              <a:gs pos="48000">
                <a:srgbClr val="081018">
                  <a:alpha val="0"/>
                </a:srgbClr>
              </a:gs>
              <a:gs pos="100000">
                <a:srgbClr val="D8A53A">
                  <a:alpha val="12000"/>
                </a:srgbClr>
              </a:gs>
            </a:gsLst>
            <a:lin ang="7200000"/>
          </a:gradFill>
          <a:ln w="0">
            <a:noFill/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0" y="1619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0" y="2476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0" y="3333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0" y="5048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0" y="5905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0" y="6762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85800" y="533400"/>
            <a:ext cx="1066800" cy="0"/>
          </a:xfrm>
          <a:prstGeom prst="line">
            <a:avLst/>
          </a:prstGeom>
          <a:noFill/>
          <a:ln w="38100">
            <a:solidFill>
              <a:srgbClr val="D8A53A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85800" y="609600"/>
            <a:ext cx="514350" cy="0"/>
          </a:xfrm>
          <a:prstGeom prst="line">
            <a:avLst/>
          </a:prstGeom>
          <a:noFill/>
          <a:ln w="38100">
            <a:solidFill>
              <a:srgbClr val="20C7B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201150" y="4191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COURSE PRACTICE REPORT</a:t>
            </a:r>
            <a:endParaRPr sz="825" b="1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8000"/>
            </a:srgbClr>
          </a:solidFill>
          <a:ln w="0">
            <a:noFill/>
            <a:prstDash val="solid"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723900" y="876300"/>
            <a:ext cx="460058" cy="460058"/>
          </a:xfrm>
          <a:prstGeom prst="roundRect">
            <a:avLst>
              <a:gd name="adj" fmla="val 23810"/>
            </a:avLst>
          </a:prstGeom>
          <a:solidFill>
            <a:srgbClr val="D8A53A"/>
          </a:solidFill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825113" y="968312"/>
            <a:ext cx="257632" cy="257632"/>
          </a:xfrm>
          <a:prstGeom prst="line">
            <a:avLst/>
          </a:prstGeom>
          <a:noFill/>
          <a:ln w="54769">
            <a:solidFill>
              <a:srgbClr val="081018"/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825113" y="968311"/>
            <a:ext cx="174822" cy="174822"/>
          </a:xfrm>
          <a:prstGeom prst="line">
            <a:avLst/>
          </a:prstGeom>
          <a:noFill/>
          <a:ln w="21908">
            <a:solidFill>
              <a:srgbClr val="081018"/>
            </a:solidFill>
            <a:prstDash val="solid"/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792909" y="945309"/>
            <a:ext cx="55207" cy="55207"/>
          </a:xfrm>
          <a:prstGeom prst="ellipse">
            <a:avLst/>
          </a:prstGeom>
          <a:solidFill>
            <a:srgbClr val="20C7B4"/>
          </a:solidFill>
          <a:ln w="0">
            <a:noFill/>
            <a:prstDash val="solid"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1059742" y="1212142"/>
            <a:ext cx="55207" cy="55207"/>
          </a:xfrm>
          <a:prstGeom prst="ellipse">
            <a:avLst/>
          </a:prstGeom>
          <a:solidFill>
            <a:srgbClr val="081018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371600" y="8763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350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Vehicle Detection System</a:t>
            </a:r>
            <a:endParaRPr sz="1350" b="1">
              <a:solidFill>
                <a:srgbClr val="F1C66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85800" y="1695450"/>
            <a:ext cx="6858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92000"/>
              </a:lnSpc>
              <a:buNone/>
              <a:defRPr sz="40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YOLO26 的</a:t>
            </a:r>
            <a:endParaRPr sz="405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2000"/>
              </a:lnSpc>
              <a:buNone/>
              <a:defRPr sz="40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车流量检测系统设计与实现</a:t>
            </a:r>
            <a:endParaRPr sz="405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23900" y="3219450"/>
            <a:ext cx="685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425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深度学习课程实践汇报  /  PyQt5 + ONNX Runtime + 多目标跟踪</a:t>
            </a:r>
            <a:endParaRPr sz="1425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723900" y="4171950"/>
            <a:ext cx="5372100" cy="1275715"/>
          </a:xfrm>
          <a:prstGeom prst="roundRect">
            <a:avLst>
              <a:gd name="adj" fmla="val 14286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4" name="矩形 33"/>
          <p:cNvSpPr>
            <a:spLocks noGrp="1"/>
          </p:cNvSpPr>
          <p:nvPr/>
        </p:nvSpPr>
        <p:spPr>
          <a:xfrm>
            <a:off x="723900" y="4171950"/>
            <a:ext cx="76200" cy="1232535"/>
          </a:xfrm>
          <a:prstGeom prst="rect">
            <a:avLst/>
          </a:prstGeom>
          <a:solidFill>
            <a:srgbClr val="20C7B4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52500" y="4362450"/>
            <a:ext cx="487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小组信息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52500" y="4652645"/>
            <a:ext cx="4876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23人工智能1班 谒神月小组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成员：杜佳鑫  王炳渤  金智炜  刘勇杰  林佳宝  李佳杰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指导老师：黄海广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8256270" y="1125220"/>
            <a:ext cx="2247900" cy="2247900"/>
          </a:xfrm>
          <a:prstGeom prst="roundRect">
            <a:avLst>
              <a:gd name="adj" fmla="val 11864"/>
            </a:avLst>
          </a:prstGeom>
          <a:solidFill>
            <a:srgbClr val="F8FAFC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9170" y="1296670"/>
            <a:ext cx="1562100" cy="1562100"/>
          </a:xfrm>
          <a:prstGeom prst="roundRect">
            <a:avLst>
              <a:gd name="adj" fmla="val 9756"/>
            </a:avLst>
          </a:prstGeom>
        </p:spPr>
      </p:pic>
      <p:pic>
        <p:nvPicPr>
          <p:cNvPr id="79" name="图片 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973" y="3752850"/>
            <a:ext cx="2650404" cy="876300"/>
          </a:xfrm>
          <a:prstGeom prst="roundRect">
            <a:avLst>
              <a:gd name="adj" fmla="val 17391"/>
            </a:avLst>
          </a:prstGeom>
        </p:spPr>
      </p:pic>
      <p:sp>
        <p:nvSpPr>
          <p:cNvPr id="39" name="直接连接符 38"/>
          <p:cNvSpPr>
            <a:spLocks noGrp="1"/>
          </p:cNvSpPr>
          <p:nvPr/>
        </p:nvSpPr>
        <p:spPr>
          <a:xfrm>
            <a:off x="8229600" y="5162550"/>
            <a:ext cx="2381250" cy="0"/>
          </a:xfrm>
          <a:prstGeom prst="line">
            <a:avLst/>
          </a:prstGeom>
          <a:noFill/>
          <a:ln w="28575">
            <a:solidFill>
              <a:srgbClr val="D8A53A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096250" y="5334000"/>
            <a:ext cx="2724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/ Windows 桌面端可交付应用</a:t>
            </a:r>
            <a:endParaRPr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85800" y="63246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23人工智能1班 谒神月小组  /  01</a:t>
            </a:r>
            <a:endParaRPr sz="90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018"/>
            </a:gs>
            <a:gs pos="58000">
              <a:srgbClr val="0E1724"/>
            </a:gs>
            <a:gs pos="100000">
              <a:srgbClr val="071018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0233A">
                  <a:alpha val="50000"/>
                </a:srgbClr>
              </a:gs>
              <a:gs pos="48000">
                <a:srgbClr val="081018">
                  <a:alpha val="0"/>
                </a:srgbClr>
              </a:gs>
              <a:gs pos="100000">
                <a:srgbClr val="D8A53A">
                  <a:alpha val="12000"/>
                </a:srgbClr>
              </a:gs>
            </a:gsLst>
            <a:lin ang="7200000"/>
          </a:gradFill>
          <a:ln w="0">
            <a:noFill/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0" y="1619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0" y="2476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0" y="3333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0" y="5048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0" y="5905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0" y="6762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85800" y="533400"/>
            <a:ext cx="1066800" cy="0"/>
          </a:xfrm>
          <a:prstGeom prst="line">
            <a:avLst/>
          </a:prstGeom>
          <a:noFill/>
          <a:ln w="38100">
            <a:solidFill>
              <a:srgbClr val="D8A53A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85800" y="609600"/>
            <a:ext cx="514350" cy="0"/>
          </a:xfrm>
          <a:prstGeom prst="line">
            <a:avLst/>
          </a:prstGeom>
          <a:noFill/>
          <a:ln w="38100">
            <a:solidFill>
              <a:srgbClr val="20C7B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201150" y="4191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01 / WHY IT MATTERS</a:t>
            </a:r>
            <a:endParaRPr sz="825" b="1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819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BACKGROUND</a:t>
            </a:r>
            <a:endParaRPr sz="975" b="1">
              <a:solidFill>
                <a:srgbClr val="F1C66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5800" y="1123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92000"/>
              </a:lnSpc>
              <a:buNone/>
              <a:def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问题背景：交通视觉系统落地的三道坎</a:t>
            </a:r>
            <a:endParaRPr sz="27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63246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23人工智能1班 谒神月小组  /  02</a:t>
            </a:r>
            <a:endParaRPr sz="90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62000" y="2190750"/>
            <a:ext cx="3143250" cy="2333625"/>
          </a:xfrm>
          <a:prstGeom prst="roundRect">
            <a:avLst>
              <a:gd name="adj" fmla="val 6531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762000" y="2190750"/>
            <a:ext cx="47625" cy="2333625"/>
          </a:xfrm>
          <a:prstGeom prst="rect">
            <a:avLst/>
          </a:prstGeom>
          <a:solidFill>
            <a:srgbClr val="D8A53A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90600" y="2381250"/>
            <a:ext cx="2686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实时性与边缘部署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90600" y="2743200"/>
            <a:ext cx="268605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高精度模型常依赖 GPU，路侧设备或普通 CPU 环境下很难稳定满足 25FPS 视频流处理。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4524375" y="2190750"/>
            <a:ext cx="3143250" cy="2333625"/>
          </a:xfrm>
          <a:prstGeom prst="roundRect">
            <a:avLst>
              <a:gd name="adj" fmla="val 6531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2" name="矩形 31"/>
          <p:cNvSpPr>
            <a:spLocks noGrp="1"/>
          </p:cNvSpPr>
          <p:nvPr/>
        </p:nvSpPr>
        <p:spPr>
          <a:xfrm>
            <a:off x="4524375" y="2190750"/>
            <a:ext cx="47625" cy="2333625"/>
          </a:xfrm>
          <a:prstGeom prst="rect">
            <a:avLst/>
          </a:prstGeom>
          <a:solidFill>
            <a:srgbClr val="20C7B4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752975" y="2381250"/>
            <a:ext cx="2686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密集遮挡与小目标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752975" y="2743200"/>
            <a:ext cx="268605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路口车流密度高、车辆互相遮挡，远距离小目标在雨天、逆光和夜间更容易漏检。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8286750" y="2190750"/>
            <a:ext cx="3143250" cy="2333625"/>
          </a:xfrm>
          <a:prstGeom prst="roundRect">
            <a:avLst>
              <a:gd name="adj" fmla="val 6531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6" name="矩形 35"/>
          <p:cNvSpPr>
            <a:spLocks noGrp="1"/>
          </p:cNvSpPr>
          <p:nvPr/>
        </p:nvSpPr>
        <p:spPr>
          <a:xfrm>
            <a:off x="8286750" y="2190750"/>
            <a:ext cx="47625" cy="2333625"/>
          </a:xfrm>
          <a:prstGeom prst="rect">
            <a:avLst/>
          </a:prstGeom>
          <a:solidFill>
            <a:srgbClr val="E96A5E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515350" y="2381250"/>
            <a:ext cx="2686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检测到统计的断层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515350" y="2743200"/>
            <a:ext cx="2686050" cy="1609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很多研究只停留在检测指标，缺少检测、跟踪、计数、测速与应用界面的完整链路。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238250" y="5067300"/>
            <a:ext cx="962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本项目的核心目标：把车辆检测模型真正做成可演示、可统计、可打包运行的交通分析应用。</a:t>
            </a:r>
            <a:endParaRPr sz="18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018"/>
            </a:gs>
            <a:gs pos="58000">
              <a:srgbClr val="0E1724"/>
            </a:gs>
            <a:gs pos="100000">
              <a:srgbClr val="071018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0233A">
                  <a:alpha val="50000"/>
                </a:srgbClr>
              </a:gs>
              <a:gs pos="48000">
                <a:srgbClr val="081018">
                  <a:alpha val="0"/>
                </a:srgbClr>
              </a:gs>
              <a:gs pos="100000">
                <a:srgbClr val="D8A53A">
                  <a:alpha val="12000"/>
                </a:srgbClr>
              </a:gs>
            </a:gsLst>
            <a:lin ang="7200000"/>
          </a:gradFill>
          <a:ln w="0">
            <a:noFill/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0" y="1619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0" y="2476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0" y="3333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0" y="5048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0" y="5905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0" y="6762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85800" y="533400"/>
            <a:ext cx="1066800" cy="0"/>
          </a:xfrm>
          <a:prstGeom prst="line">
            <a:avLst/>
          </a:prstGeom>
          <a:noFill/>
          <a:ln w="38100">
            <a:solidFill>
              <a:srgbClr val="D8A53A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85800" y="609600"/>
            <a:ext cx="514350" cy="0"/>
          </a:xfrm>
          <a:prstGeom prst="line">
            <a:avLst/>
          </a:prstGeom>
          <a:noFill/>
          <a:ln w="38100">
            <a:solidFill>
              <a:srgbClr val="20C7B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201150" y="4191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02 / OBJECTIVES</a:t>
            </a:r>
            <a:endParaRPr sz="825" b="1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819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WHAT WE BUILT</a:t>
            </a:r>
            <a:endParaRPr sz="975" b="1">
              <a:solidFill>
                <a:srgbClr val="F1C66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5800" y="1123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92000"/>
              </a:lnSpc>
              <a:buNone/>
              <a:def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项目目标：模型到应用的完整闭环</a:t>
            </a:r>
            <a:endParaRPr sz="27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63246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23人工智能1班 谒神月小组  /  03</a:t>
            </a:r>
            <a:endParaRPr sz="90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81050" y="2114550"/>
            <a:ext cx="2324100" cy="2514600"/>
          </a:xfrm>
          <a:prstGeom prst="roundRect">
            <a:avLst>
              <a:gd name="adj" fmla="val 7377"/>
            </a:avLst>
          </a:prstGeom>
          <a:solidFill>
            <a:srgbClr val="111C2A">
              <a:alpha val="95000"/>
            </a:srgbClr>
          </a:solidFill>
          <a:ln w="9525">
            <a:solidFill>
              <a:srgbClr val="32465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1009650" y="23431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2475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75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01</a:t>
            </a:r>
            <a:endParaRPr sz="2475" b="1">
              <a:solidFill>
                <a:srgbClr val="D8A53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09650" y="29718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车辆检测</a:t>
            </a:r>
            <a:endParaRPr sz="18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09650" y="3467100"/>
            <a:ext cx="17907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00">
                <a:solidFill>
                  <a:srgbClr val="C6D1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C6D1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YOLO26n 在 UA-DETRAC 上迁移学习，输出车辆框、类别与置信度</a:t>
            </a:r>
            <a:endParaRPr sz="1200">
              <a:solidFill>
                <a:srgbClr val="C6D1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右箭头 30"/>
          <p:cNvSpPr>
            <a:spLocks noGrp="1"/>
          </p:cNvSpPr>
          <p:nvPr/>
        </p:nvSpPr>
        <p:spPr>
          <a:xfrm>
            <a:off x="3143250" y="3143250"/>
            <a:ext cx="476250" cy="285750"/>
          </a:xfrm>
          <a:prstGeom prst="rightArrow">
            <a:avLst/>
          </a:prstGeom>
          <a:solidFill>
            <a:srgbClr val="D8A53A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3590925" y="2114550"/>
            <a:ext cx="2324100" cy="2514600"/>
          </a:xfrm>
          <a:prstGeom prst="roundRect">
            <a:avLst>
              <a:gd name="adj" fmla="val 7377"/>
            </a:avLst>
          </a:prstGeom>
          <a:solidFill>
            <a:srgbClr val="111C2A">
              <a:alpha val="95000"/>
            </a:srgbClr>
          </a:solidFill>
          <a:ln w="9525">
            <a:solidFill>
              <a:srgbClr val="32465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3" name="矩形 32"/>
          <p:cNvSpPr>
            <a:spLocks noGrp="1"/>
          </p:cNvSpPr>
          <p:nvPr/>
        </p:nvSpPr>
        <p:spPr>
          <a:xfrm>
            <a:off x="3819525" y="23431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2475" b="1">
                <a:solidFill>
                  <a:srgbClr val="20C7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75" b="1">
                <a:solidFill>
                  <a:srgbClr val="20C7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02</a:t>
            </a:r>
            <a:endParaRPr sz="2475" b="1">
              <a:solidFill>
                <a:srgbClr val="20C7B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819525" y="29718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实时跟踪</a:t>
            </a:r>
            <a:endParaRPr sz="18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819525" y="3467100"/>
            <a:ext cx="17907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00">
                <a:solidFill>
                  <a:srgbClr val="C6D1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C6D1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自定义 IoU + 中心距离匹配，为车辆分配唯一 track ID</a:t>
            </a:r>
            <a:endParaRPr sz="1200">
              <a:solidFill>
                <a:srgbClr val="C6D1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右箭头 35"/>
          <p:cNvSpPr>
            <a:spLocks noGrp="1"/>
          </p:cNvSpPr>
          <p:nvPr/>
        </p:nvSpPr>
        <p:spPr>
          <a:xfrm>
            <a:off x="5953125" y="3143250"/>
            <a:ext cx="476250" cy="285750"/>
          </a:xfrm>
          <a:prstGeom prst="rightArrow">
            <a:avLst/>
          </a:prstGeom>
          <a:solidFill>
            <a:srgbClr val="D8A53A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37" name="圆角矩形 36"/>
          <p:cNvSpPr>
            <a:spLocks noGrp="1"/>
          </p:cNvSpPr>
          <p:nvPr/>
        </p:nvSpPr>
        <p:spPr>
          <a:xfrm>
            <a:off x="6400800" y="2114550"/>
            <a:ext cx="2324100" cy="2514600"/>
          </a:xfrm>
          <a:prstGeom prst="roundRect">
            <a:avLst>
              <a:gd name="adj" fmla="val 7377"/>
            </a:avLst>
          </a:prstGeom>
          <a:solidFill>
            <a:srgbClr val="111C2A">
              <a:alpha val="95000"/>
            </a:srgbClr>
          </a:solidFill>
          <a:ln w="9525">
            <a:solidFill>
              <a:srgbClr val="32465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8" name="矩形 37"/>
          <p:cNvSpPr>
            <a:spLocks noGrp="1"/>
          </p:cNvSpPr>
          <p:nvPr/>
        </p:nvSpPr>
        <p:spPr>
          <a:xfrm>
            <a:off x="6629400" y="23431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2475" b="1">
                <a:solidFill>
                  <a:srgbClr val="E96A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75" b="1">
                <a:solidFill>
                  <a:srgbClr val="E96A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03</a:t>
            </a:r>
            <a:endParaRPr sz="2475" b="1">
              <a:solidFill>
                <a:srgbClr val="E96A5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629400" y="29718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双向统计</a:t>
            </a:r>
            <a:endParaRPr sz="18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629400" y="3467100"/>
            <a:ext cx="17907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00">
                <a:solidFill>
                  <a:srgbClr val="C6D1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C6D1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ENTRY / EXIT 检测线、去重计数、方向判断与车速估算</a:t>
            </a:r>
            <a:endParaRPr sz="1200">
              <a:solidFill>
                <a:srgbClr val="C6D1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右箭头 40"/>
          <p:cNvSpPr>
            <a:spLocks noGrp="1"/>
          </p:cNvSpPr>
          <p:nvPr/>
        </p:nvSpPr>
        <p:spPr>
          <a:xfrm>
            <a:off x="8763000" y="3143250"/>
            <a:ext cx="476250" cy="285750"/>
          </a:xfrm>
          <a:prstGeom prst="rightArrow">
            <a:avLst/>
          </a:prstGeom>
          <a:solidFill>
            <a:srgbClr val="D8A53A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42" name="圆角矩形 41"/>
          <p:cNvSpPr>
            <a:spLocks noGrp="1"/>
          </p:cNvSpPr>
          <p:nvPr/>
        </p:nvSpPr>
        <p:spPr>
          <a:xfrm>
            <a:off x="9210675" y="2114550"/>
            <a:ext cx="2324100" cy="2514600"/>
          </a:xfrm>
          <a:prstGeom prst="roundRect">
            <a:avLst>
              <a:gd name="adj" fmla="val 7377"/>
            </a:avLst>
          </a:prstGeom>
          <a:solidFill>
            <a:srgbClr val="111C2A">
              <a:alpha val="95000"/>
            </a:srgbClr>
          </a:solidFill>
          <a:ln w="9525">
            <a:solidFill>
              <a:srgbClr val="32465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3" name="矩形 42"/>
          <p:cNvSpPr>
            <a:spLocks noGrp="1"/>
          </p:cNvSpPr>
          <p:nvPr/>
        </p:nvSpPr>
        <p:spPr>
          <a:xfrm>
            <a:off x="9439275" y="2343150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2475" b="1">
                <a:solidFill>
                  <a:srgbClr val="4EA2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75" b="1">
                <a:solidFill>
                  <a:srgbClr val="4EA2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04</a:t>
            </a:r>
            <a:endParaRPr sz="2475" b="1">
              <a:solidFill>
                <a:srgbClr val="4EA2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439275" y="29718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应用交付</a:t>
            </a:r>
            <a:endParaRPr sz="18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439275" y="3467100"/>
            <a:ext cx="17907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00">
                <a:solidFill>
                  <a:srgbClr val="C6D1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C6D1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PyQt5 GUI、CSV 导出、ONNX Runtime 推理、PyInstaller 打包 exe</a:t>
            </a:r>
            <a:endParaRPr sz="1200">
              <a:solidFill>
                <a:srgbClr val="C6D1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3905250" y="5105400"/>
            <a:ext cx="1790700" cy="304800"/>
          </a:xfrm>
          <a:prstGeom prst="roundRect">
            <a:avLst>
              <a:gd name="adj" fmla="val 50000"/>
            </a:avLst>
          </a:prstGeom>
          <a:solidFill>
            <a:srgbClr val="20C7B4">
              <a:alpha val="18000"/>
            </a:srgbClr>
          </a:solidFill>
          <a:ln w="9525">
            <a:solidFill>
              <a:srgbClr val="20C7B4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3905250" y="5172075"/>
            <a:ext cx="1790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20C7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20C7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ONNX RUNTIME</a:t>
            </a:r>
            <a:endParaRPr sz="975" b="1">
              <a:solidFill>
                <a:srgbClr val="20C7B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5524500" y="5105400"/>
            <a:ext cx="1419225" cy="304800"/>
          </a:xfrm>
          <a:prstGeom prst="roundRect">
            <a:avLst>
              <a:gd name="adj" fmla="val 50000"/>
            </a:avLst>
          </a:prstGeom>
          <a:solidFill>
            <a:srgbClr val="D8A53A">
              <a:alpha val="18000"/>
            </a:srgbClr>
          </a:solidFill>
          <a:ln w="9525">
            <a:solidFill>
              <a:srgbClr val="D8A53A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5524500" y="5172075"/>
            <a:ext cx="14192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PYQT5 GUI</a:t>
            </a:r>
            <a:endParaRPr sz="975" b="1">
              <a:solidFill>
                <a:srgbClr val="D8A53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6858000" y="5105400"/>
            <a:ext cx="1790700" cy="304800"/>
          </a:xfrm>
          <a:prstGeom prst="roundRect">
            <a:avLst>
              <a:gd name="adj" fmla="val 50000"/>
            </a:avLst>
          </a:prstGeom>
          <a:solidFill>
            <a:srgbClr val="E96A5E">
              <a:alpha val="18000"/>
            </a:srgbClr>
          </a:solidFill>
          <a:ln w="9525">
            <a:solidFill>
              <a:srgbClr val="E96A5E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6858000" y="5172075"/>
            <a:ext cx="1790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E96A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E96A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EXE DELIVERY</a:t>
            </a:r>
            <a:endParaRPr sz="975" b="1">
              <a:solidFill>
                <a:srgbClr val="E96A5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018"/>
            </a:gs>
            <a:gs pos="58000">
              <a:srgbClr val="0E1724"/>
            </a:gs>
            <a:gs pos="100000">
              <a:srgbClr val="071018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0233A">
                  <a:alpha val="50000"/>
                </a:srgbClr>
              </a:gs>
              <a:gs pos="48000">
                <a:srgbClr val="081018">
                  <a:alpha val="0"/>
                </a:srgbClr>
              </a:gs>
              <a:gs pos="100000">
                <a:srgbClr val="D8A53A">
                  <a:alpha val="12000"/>
                </a:srgbClr>
              </a:gs>
            </a:gsLst>
            <a:lin ang="7200000"/>
          </a:gradFill>
          <a:ln w="0">
            <a:noFill/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0" y="1619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0" y="2476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0" y="3333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0" y="5048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0" y="5905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0" y="6762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85800" y="533400"/>
            <a:ext cx="1066800" cy="0"/>
          </a:xfrm>
          <a:prstGeom prst="line">
            <a:avLst/>
          </a:prstGeom>
          <a:noFill/>
          <a:ln w="38100">
            <a:solidFill>
              <a:srgbClr val="D8A53A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85800" y="609600"/>
            <a:ext cx="514350" cy="0"/>
          </a:xfrm>
          <a:prstGeom prst="line">
            <a:avLst/>
          </a:prstGeom>
          <a:noFill/>
          <a:ln w="38100">
            <a:solidFill>
              <a:srgbClr val="20C7B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201150" y="4191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03 / SYSTEM ARCHITECTURE</a:t>
            </a:r>
            <a:endParaRPr sz="825" b="1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819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ARCHITECTURE</a:t>
            </a:r>
            <a:endParaRPr sz="975" b="1">
              <a:solidFill>
                <a:srgbClr val="F1C66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5800" y="1123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92000"/>
              </a:lnSpc>
              <a:buNone/>
              <a:def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系统架构：四层结构与处理流水线</a:t>
            </a:r>
            <a:endParaRPr sz="27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63246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23人工智能1班 谒神月小组  /  04</a:t>
            </a:r>
            <a:endParaRPr sz="90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62000" y="1952625"/>
            <a:ext cx="10668000" cy="3667125"/>
          </a:xfrm>
          <a:prstGeom prst="roundRect">
            <a:avLst>
              <a:gd name="adj" fmla="val 4675"/>
            </a:avLst>
          </a:prstGeom>
          <a:solidFill>
            <a:srgbClr val="0B1320"/>
          </a:solidFill>
          <a:ln w="9525">
            <a:solidFill>
              <a:srgbClr val="32465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4266" y="2076450"/>
            <a:ext cx="7063468" cy="3409950"/>
          </a:xfrm>
          <a:prstGeom prst="roundRect">
            <a:avLst>
              <a:gd name="adj" fmla="val 4469"/>
            </a:avLst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1066800" y="577215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35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数据层负责视频输入与预处理；模型层完成 YOLO26 ONNX 推理；业务逻辑层处理跟踪、计数与测速；应用层提供可视化交互。</a:t>
            </a:r>
            <a:endParaRPr sz="135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018"/>
            </a:gs>
            <a:gs pos="58000">
              <a:srgbClr val="0E1724"/>
            </a:gs>
            <a:gs pos="100000">
              <a:srgbClr val="071018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0233A">
                  <a:alpha val="50000"/>
                </a:srgbClr>
              </a:gs>
              <a:gs pos="48000">
                <a:srgbClr val="081018">
                  <a:alpha val="0"/>
                </a:srgbClr>
              </a:gs>
              <a:gs pos="100000">
                <a:srgbClr val="D8A53A">
                  <a:alpha val="12000"/>
                </a:srgbClr>
              </a:gs>
            </a:gsLst>
            <a:lin ang="7200000"/>
          </a:gradFill>
          <a:ln w="0">
            <a:noFill/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0" y="1619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0" y="2476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0" y="3333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0" y="5048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0" y="5905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0" y="6762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85800" y="533400"/>
            <a:ext cx="1066800" cy="0"/>
          </a:xfrm>
          <a:prstGeom prst="line">
            <a:avLst/>
          </a:prstGeom>
          <a:noFill/>
          <a:ln w="38100">
            <a:solidFill>
              <a:srgbClr val="D8A53A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85800" y="609600"/>
            <a:ext cx="514350" cy="0"/>
          </a:xfrm>
          <a:prstGeom prst="line">
            <a:avLst/>
          </a:prstGeom>
          <a:noFill/>
          <a:ln w="38100">
            <a:solidFill>
              <a:srgbClr val="20C7B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201150" y="4191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04 / MODEL</a:t>
            </a:r>
            <a:endParaRPr sz="825" b="1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819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MODEL FOUNDATION</a:t>
            </a:r>
            <a:endParaRPr sz="975" b="1">
              <a:solidFill>
                <a:srgbClr val="F1C66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5800" y="1123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92000"/>
              </a:lnSpc>
              <a:buNone/>
              <a:def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YOLO26n：轻量化端到端检测模型</a:t>
            </a:r>
            <a:endParaRPr sz="27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63246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23人工智能1班 谒神月小组  /  05</a:t>
            </a:r>
            <a:endParaRPr sz="90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81050" y="2114550"/>
            <a:ext cx="1981200" cy="1143000"/>
          </a:xfrm>
          <a:prstGeom prst="roundRect">
            <a:avLst>
              <a:gd name="adj" fmla="val 15000"/>
            </a:avLst>
          </a:prstGeom>
          <a:solidFill>
            <a:srgbClr val="101A28">
              <a:alpha val="96000"/>
            </a:srgbClr>
          </a:solidFill>
          <a:ln w="9525">
            <a:solidFill>
              <a:srgbClr val="30435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952500" y="2286000"/>
            <a:ext cx="1638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2.4M</a:t>
            </a:r>
            <a:endParaRPr sz="2550" b="1">
              <a:solidFill>
                <a:srgbClr val="D8A53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52500" y="2800350"/>
            <a:ext cx="1638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参数量 / Million</a:t>
            </a:r>
            <a:endParaRPr sz="1125">
              <a:solidFill>
                <a:srgbClr val="B8C4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3143250" y="2114550"/>
            <a:ext cx="1981200" cy="1143000"/>
          </a:xfrm>
          <a:prstGeom prst="roundRect">
            <a:avLst>
              <a:gd name="adj" fmla="val 15000"/>
            </a:avLst>
          </a:prstGeom>
          <a:solidFill>
            <a:srgbClr val="101A28">
              <a:alpha val="96000"/>
            </a:srgbClr>
          </a:solidFill>
          <a:ln w="9525">
            <a:solidFill>
              <a:srgbClr val="30435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1" name="矩形 30"/>
          <p:cNvSpPr>
            <a:spLocks noGrp="1"/>
          </p:cNvSpPr>
          <p:nvPr/>
        </p:nvSpPr>
        <p:spPr>
          <a:xfrm>
            <a:off x="3314700" y="2286000"/>
            <a:ext cx="1638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20C7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1">
                <a:solidFill>
                  <a:srgbClr val="20C7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5.4B</a:t>
            </a:r>
            <a:endParaRPr sz="2550" b="1">
              <a:solidFill>
                <a:srgbClr val="20C7B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314700" y="2800350"/>
            <a:ext cx="1638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FLOPs</a:t>
            </a:r>
            <a:endParaRPr sz="1125">
              <a:solidFill>
                <a:srgbClr val="B8C4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5505450" y="2114550"/>
            <a:ext cx="1981200" cy="1143000"/>
          </a:xfrm>
          <a:prstGeom prst="roundRect">
            <a:avLst>
              <a:gd name="adj" fmla="val 15000"/>
            </a:avLst>
          </a:prstGeom>
          <a:solidFill>
            <a:srgbClr val="101A28">
              <a:alpha val="96000"/>
            </a:srgbClr>
          </a:solidFill>
          <a:ln w="9525">
            <a:solidFill>
              <a:srgbClr val="30435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4" name="矩形 33"/>
          <p:cNvSpPr>
            <a:spLocks noGrp="1"/>
          </p:cNvSpPr>
          <p:nvPr/>
        </p:nvSpPr>
        <p:spPr>
          <a:xfrm>
            <a:off x="5676900" y="2286000"/>
            <a:ext cx="1638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4EA2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1">
                <a:solidFill>
                  <a:srgbClr val="4EA2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43%</a:t>
            </a:r>
            <a:endParaRPr sz="2550" b="1">
              <a:solidFill>
                <a:srgbClr val="4EA2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676900" y="2800350"/>
            <a:ext cx="1638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ONNX 速度提升</a:t>
            </a:r>
            <a:endParaRPr sz="1125">
              <a:solidFill>
                <a:srgbClr val="B8C4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7867650" y="2114550"/>
            <a:ext cx="1981200" cy="1143000"/>
          </a:xfrm>
          <a:prstGeom prst="roundRect">
            <a:avLst>
              <a:gd name="adj" fmla="val 15000"/>
            </a:avLst>
          </a:prstGeom>
          <a:solidFill>
            <a:srgbClr val="101A28">
              <a:alpha val="96000"/>
            </a:srgbClr>
          </a:solidFill>
          <a:ln w="9525">
            <a:solidFill>
              <a:srgbClr val="30435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7" name="矩形 36"/>
          <p:cNvSpPr>
            <a:spLocks noGrp="1"/>
          </p:cNvSpPr>
          <p:nvPr/>
        </p:nvSpPr>
        <p:spPr>
          <a:xfrm>
            <a:off x="8039100" y="2286000"/>
            <a:ext cx="1638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E96A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1">
                <a:solidFill>
                  <a:srgbClr val="E96A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1.7ms</a:t>
            </a:r>
            <a:endParaRPr sz="2550" b="1">
              <a:solidFill>
                <a:srgbClr val="E96A5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039100" y="2800350"/>
            <a:ext cx="1638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T4 TensorRT FP16</a:t>
            </a:r>
            <a:endParaRPr sz="1125">
              <a:solidFill>
                <a:srgbClr val="B8C4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781050" y="3771900"/>
            <a:ext cx="3190875" cy="1428750"/>
          </a:xfrm>
          <a:prstGeom prst="roundRect">
            <a:avLst>
              <a:gd name="adj" fmla="val 10667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0" name="矩形 39"/>
          <p:cNvSpPr>
            <a:spLocks noGrp="1"/>
          </p:cNvSpPr>
          <p:nvPr/>
        </p:nvSpPr>
        <p:spPr>
          <a:xfrm>
            <a:off x="781050" y="3771900"/>
            <a:ext cx="47625" cy="1428750"/>
          </a:xfrm>
          <a:prstGeom prst="rect">
            <a:avLst/>
          </a:prstGeom>
          <a:solidFill>
            <a:srgbClr val="D8A53A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009650" y="3962400"/>
            <a:ext cx="27336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双头检测结构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009650" y="4324350"/>
            <a:ext cx="27336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一对一检测头用于无 NMS 端到端推理；一对多辅助头保留训练阶段的密集监督。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4495800" y="3771900"/>
            <a:ext cx="3190875" cy="1428750"/>
          </a:xfrm>
          <a:prstGeom prst="roundRect">
            <a:avLst>
              <a:gd name="adj" fmla="val 10667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4" name="矩形 43"/>
          <p:cNvSpPr>
            <a:spLocks noGrp="1"/>
          </p:cNvSpPr>
          <p:nvPr/>
        </p:nvSpPr>
        <p:spPr>
          <a:xfrm>
            <a:off x="4495800" y="3771900"/>
            <a:ext cx="47625" cy="1428750"/>
          </a:xfrm>
          <a:prstGeom prst="rect">
            <a:avLst/>
          </a:prstGeom>
          <a:solidFill>
            <a:srgbClr val="20C7B4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4724400" y="3962400"/>
            <a:ext cx="27336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训练协同创新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4724400" y="4324350"/>
            <a:ext cx="27336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MuSGD、Progressive Loss 与 STAL 提升训练稳定性，并照顾交通场景中的小目标。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8210550" y="3771900"/>
            <a:ext cx="3190875" cy="1428750"/>
          </a:xfrm>
          <a:prstGeom prst="roundRect">
            <a:avLst>
              <a:gd name="adj" fmla="val 10667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8" name="矩形 47"/>
          <p:cNvSpPr>
            <a:spLocks noGrp="1"/>
          </p:cNvSpPr>
          <p:nvPr/>
        </p:nvSpPr>
        <p:spPr>
          <a:xfrm>
            <a:off x="8210550" y="3771900"/>
            <a:ext cx="47625" cy="1428750"/>
          </a:xfrm>
          <a:prstGeom prst="rect">
            <a:avLst/>
          </a:prstGeom>
          <a:solidFill>
            <a:srgbClr val="E96A5E"/>
          </a:solidFill>
          <a:ln w="0">
            <a:noFill/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8439150" y="3962400"/>
            <a:ext cx="27336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部署友好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439150" y="4324350"/>
            <a:ext cx="27336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ONNX 模型体积约 9.4MB，脱离 PyTorch / Ultralytics 训练依赖即可推理。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018"/>
            </a:gs>
            <a:gs pos="58000">
              <a:srgbClr val="0E1724"/>
            </a:gs>
            <a:gs pos="100000">
              <a:srgbClr val="071018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0233A">
                  <a:alpha val="50000"/>
                </a:srgbClr>
              </a:gs>
              <a:gs pos="48000">
                <a:srgbClr val="081018">
                  <a:alpha val="0"/>
                </a:srgbClr>
              </a:gs>
              <a:gs pos="100000">
                <a:srgbClr val="D8A53A">
                  <a:alpha val="12000"/>
                </a:srgbClr>
              </a:gs>
            </a:gsLst>
            <a:lin ang="7200000"/>
          </a:gradFill>
          <a:ln w="0">
            <a:noFill/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0" y="1619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0" y="2476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0" y="3333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0" y="5048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0" y="5905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0" y="6762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85800" y="533400"/>
            <a:ext cx="1066800" cy="0"/>
          </a:xfrm>
          <a:prstGeom prst="line">
            <a:avLst/>
          </a:prstGeom>
          <a:noFill/>
          <a:ln w="38100">
            <a:solidFill>
              <a:srgbClr val="D8A53A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85800" y="609600"/>
            <a:ext cx="514350" cy="0"/>
          </a:xfrm>
          <a:prstGeom prst="line">
            <a:avLst/>
          </a:prstGeom>
          <a:noFill/>
          <a:ln w="38100">
            <a:solidFill>
              <a:srgbClr val="20C7B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201150" y="4191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05 / DATA &amp; TRAINING</a:t>
            </a:r>
            <a:endParaRPr sz="825" b="1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819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TRAINING SETUP</a:t>
            </a:r>
            <a:endParaRPr sz="975" b="1">
              <a:solidFill>
                <a:srgbClr val="F1C66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5800" y="1123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92000"/>
              </a:lnSpc>
              <a:buNone/>
              <a:def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数据训练：UA-DETRAC 迁移学习</a:t>
            </a:r>
            <a:endParaRPr sz="27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63246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23人工智能1班 谒神月小组  /  06</a:t>
            </a:r>
            <a:endParaRPr sz="90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62000" y="2038350"/>
            <a:ext cx="3371850" cy="2647950"/>
          </a:xfrm>
          <a:prstGeom prst="roundRect">
            <a:avLst>
              <a:gd name="adj" fmla="val 5755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762000" y="2038350"/>
            <a:ext cx="47625" cy="2647950"/>
          </a:xfrm>
          <a:prstGeom prst="rect">
            <a:avLst/>
          </a:prstGeom>
          <a:solidFill>
            <a:srgbClr val="D8A53A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90600" y="22288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90600" y="2590800"/>
            <a:ext cx="2914650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UA-DETRAC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14 万帧图像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 100 万车辆标注框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类别：car / van / bus / others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4419600" y="2038350"/>
            <a:ext cx="3371850" cy="2647950"/>
          </a:xfrm>
          <a:prstGeom prst="roundRect">
            <a:avLst>
              <a:gd name="adj" fmla="val 5755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2" name="矩形 31"/>
          <p:cNvSpPr>
            <a:spLocks noGrp="1"/>
          </p:cNvSpPr>
          <p:nvPr/>
        </p:nvSpPr>
        <p:spPr>
          <a:xfrm>
            <a:off x="4419600" y="2038350"/>
            <a:ext cx="47625" cy="2647950"/>
          </a:xfrm>
          <a:prstGeom prst="rect">
            <a:avLst/>
          </a:prstGeom>
          <a:solidFill>
            <a:srgbClr val="20C7B4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648200" y="22288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训练配置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648200" y="2590800"/>
            <a:ext cx="2914650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COCO 预训练 yolo26n.pt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 50 轮，早停 16 轮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6 轮为最佳权重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Batch 16，AdamW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8077200" y="2038350"/>
            <a:ext cx="3371850" cy="2647950"/>
          </a:xfrm>
          <a:prstGeom prst="roundRect">
            <a:avLst>
              <a:gd name="adj" fmla="val 5755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6" name="矩形 35"/>
          <p:cNvSpPr>
            <a:spLocks noGrp="1"/>
          </p:cNvSpPr>
          <p:nvPr/>
        </p:nvSpPr>
        <p:spPr>
          <a:xfrm>
            <a:off x="8077200" y="2038350"/>
            <a:ext cx="47625" cy="2647950"/>
          </a:xfrm>
          <a:prstGeom prst="rect">
            <a:avLst/>
          </a:prstGeom>
          <a:solidFill>
            <a:srgbClr val="E96A5E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305800" y="222885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增强与评估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305800" y="2590800"/>
            <a:ext cx="2914650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Mosaic、MixUp、Copy-Paste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HSV 与几何扰动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mAP@0.5、mAP@0.5:0.95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Precision / Recall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1714500" y="5219700"/>
            <a:ext cx="8763000" cy="419100"/>
          </a:xfrm>
          <a:prstGeom prst="roundRect">
            <a:avLst>
              <a:gd name="adj" fmla="val 27273"/>
            </a:avLst>
          </a:prstGeom>
          <a:solidFill>
            <a:srgbClr val="0F1B29">
              <a:alpha val="95000"/>
            </a:srgbClr>
          </a:solidFill>
          <a:ln w="9525">
            <a:solidFill>
              <a:srgbClr val="30435B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2000250" y="5334000"/>
            <a:ext cx="819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35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最佳权重用于后续 ONNX 推理部署与车辆跟踪任务</a:t>
            </a:r>
            <a:endParaRPr sz="135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018"/>
            </a:gs>
            <a:gs pos="58000">
              <a:srgbClr val="0E1724"/>
            </a:gs>
            <a:gs pos="100000">
              <a:srgbClr val="071018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0233A">
                  <a:alpha val="50000"/>
                </a:srgbClr>
              </a:gs>
              <a:gs pos="48000">
                <a:srgbClr val="081018">
                  <a:alpha val="0"/>
                </a:srgbClr>
              </a:gs>
              <a:gs pos="100000">
                <a:srgbClr val="D8A53A">
                  <a:alpha val="12000"/>
                </a:srgbClr>
              </a:gs>
            </a:gsLst>
            <a:lin ang="7200000"/>
          </a:gradFill>
          <a:ln w="0">
            <a:noFill/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0" y="1619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0" y="2476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0" y="3333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0" y="5048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0" y="5905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0" y="6762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85800" y="533400"/>
            <a:ext cx="1066800" cy="0"/>
          </a:xfrm>
          <a:prstGeom prst="line">
            <a:avLst/>
          </a:prstGeom>
          <a:noFill/>
          <a:ln w="38100">
            <a:solidFill>
              <a:srgbClr val="D8A53A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85800" y="609600"/>
            <a:ext cx="514350" cy="0"/>
          </a:xfrm>
          <a:prstGeom prst="line">
            <a:avLst/>
          </a:prstGeom>
          <a:noFill/>
          <a:ln w="38100">
            <a:solidFill>
              <a:srgbClr val="20C7B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201150" y="4191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06 / EVALUATION</a:t>
            </a:r>
            <a:endParaRPr sz="825" b="1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819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MODEL RESULTS</a:t>
            </a:r>
            <a:endParaRPr sz="975" b="1">
              <a:solidFill>
                <a:srgbClr val="F1C66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5800" y="1123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92000"/>
              </a:lnSpc>
              <a:buNone/>
              <a:def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模型评估：高精度与漏检风险</a:t>
            </a:r>
            <a:endParaRPr sz="27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63246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23人工智能1班 谒神月小组  /  07</a:t>
            </a:r>
            <a:endParaRPr sz="90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38200" y="2019300"/>
            <a:ext cx="6477000" cy="3238500"/>
          </a:xfrm>
          <a:prstGeom prst="roundRect">
            <a:avLst>
              <a:gd name="adj" fmla="val 5294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graphicFrame>
        <p:nvGraphicFramePr>
          <p:cNvPr id="67" name="Chart"/>
          <p:cNvGraphicFramePr/>
          <p:nvPr/>
        </p:nvGraphicFramePr>
        <p:xfrm>
          <a:off x="1123950" y="2324100"/>
          <a:ext cx="5905500" cy="255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8" name="圆角矩形 27"/>
          <p:cNvSpPr>
            <a:spLocks noGrp="1"/>
          </p:cNvSpPr>
          <p:nvPr/>
        </p:nvSpPr>
        <p:spPr>
          <a:xfrm>
            <a:off x="7810500" y="2114550"/>
            <a:ext cx="1600200" cy="1009650"/>
          </a:xfrm>
          <a:prstGeom prst="roundRect">
            <a:avLst>
              <a:gd name="adj" fmla="val 16981"/>
            </a:avLst>
          </a:prstGeom>
          <a:solidFill>
            <a:srgbClr val="101A28">
              <a:alpha val="96000"/>
            </a:srgbClr>
          </a:solidFill>
          <a:ln w="9525">
            <a:solidFill>
              <a:srgbClr val="30435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9" name="矩形 28"/>
          <p:cNvSpPr>
            <a:spLocks noGrp="1"/>
          </p:cNvSpPr>
          <p:nvPr/>
        </p:nvSpPr>
        <p:spPr>
          <a:xfrm>
            <a:off x="7981950" y="2286000"/>
            <a:ext cx="1257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80.37%</a:t>
            </a:r>
            <a:endParaRPr sz="2550" b="1">
              <a:solidFill>
                <a:srgbClr val="D8A53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981950" y="280035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Precision</a:t>
            </a:r>
            <a:endParaRPr sz="1125">
              <a:solidFill>
                <a:srgbClr val="B8C4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9677400" y="2114550"/>
            <a:ext cx="1600200" cy="1009650"/>
          </a:xfrm>
          <a:prstGeom prst="roundRect">
            <a:avLst>
              <a:gd name="adj" fmla="val 16981"/>
            </a:avLst>
          </a:prstGeom>
          <a:solidFill>
            <a:srgbClr val="101A28">
              <a:alpha val="96000"/>
            </a:srgbClr>
          </a:solidFill>
          <a:ln w="9525">
            <a:solidFill>
              <a:srgbClr val="30435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2" name="矩形 31"/>
          <p:cNvSpPr>
            <a:spLocks noGrp="1"/>
          </p:cNvSpPr>
          <p:nvPr/>
        </p:nvSpPr>
        <p:spPr>
          <a:xfrm>
            <a:off x="9848850" y="2286000"/>
            <a:ext cx="1257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20C7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1">
                <a:solidFill>
                  <a:srgbClr val="20C7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63.62%</a:t>
            </a:r>
            <a:endParaRPr sz="2550" b="1">
              <a:solidFill>
                <a:srgbClr val="20C7B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848850" y="280035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mAP@0.5</a:t>
            </a:r>
            <a:endParaRPr sz="1125">
              <a:solidFill>
                <a:srgbClr val="B8C4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810500" y="3543300"/>
            <a:ext cx="1600200" cy="1009650"/>
          </a:xfrm>
          <a:prstGeom prst="roundRect">
            <a:avLst>
              <a:gd name="adj" fmla="val 16981"/>
            </a:avLst>
          </a:prstGeom>
          <a:solidFill>
            <a:srgbClr val="101A28">
              <a:alpha val="96000"/>
            </a:srgbClr>
          </a:solidFill>
          <a:ln w="9525">
            <a:solidFill>
              <a:srgbClr val="30435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5" name="矩形 34"/>
          <p:cNvSpPr>
            <a:spLocks noGrp="1"/>
          </p:cNvSpPr>
          <p:nvPr/>
        </p:nvSpPr>
        <p:spPr>
          <a:xfrm>
            <a:off x="7981950" y="3714750"/>
            <a:ext cx="1257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4EA2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1">
                <a:solidFill>
                  <a:srgbClr val="4EA2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36FPS</a:t>
            </a:r>
            <a:endParaRPr sz="2550" b="1">
              <a:solidFill>
                <a:srgbClr val="4EA2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981950" y="42291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推理</a:t>
            </a:r>
            <a:endParaRPr sz="1125">
              <a:solidFill>
                <a:srgbClr val="B8C4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9677400" y="3543300"/>
            <a:ext cx="1600200" cy="1009650"/>
          </a:xfrm>
          <a:prstGeom prst="roundRect">
            <a:avLst>
              <a:gd name="adj" fmla="val 16981"/>
            </a:avLst>
          </a:prstGeom>
          <a:solidFill>
            <a:srgbClr val="101A28">
              <a:alpha val="96000"/>
            </a:srgbClr>
          </a:solidFill>
          <a:ln w="9525">
            <a:solidFill>
              <a:srgbClr val="30435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8" name="矩形 37"/>
          <p:cNvSpPr>
            <a:spLocks noGrp="1"/>
          </p:cNvSpPr>
          <p:nvPr/>
        </p:nvSpPr>
        <p:spPr>
          <a:xfrm>
            <a:off x="9848850" y="3714750"/>
            <a:ext cx="1257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E96A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1">
                <a:solidFill>
                  <a:srgbClr val="E96A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27.7ms</a:t>
            </a:r>
            <a:endParaRPr sz="2550" b="1">
              <a:solidFill>
                <a:srgbClr val="E96A5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848850" y="42291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每帧耗时</a:t>
            </a:r>
            <a:endParaRPr sz="1125">
              <a:solidFill>
                <a:srgbClr val="B8C4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371600" y="5581650"/>
            <a:ext cx="942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350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验证集：14128 张图片 / 102487 个标注实例。结果说明误检相对较少，但密集遮挡场景存在漏检。</a:t>
            </a:r>
            <a:endParaRPr sz="1350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018"/>
            </a:gs>
            <a:gs pos="58000">
              <a:srgbClr val="0E1724"/>
            </a:gs>
            <a:gs pos="100000">
              <a:srgbClr val="071018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0233A">
                  <a:alpha val="50000"/>
                </a:srgbClr>
              </a:gs>
              <a:gs pos="48000">
                <a:srgbClr val="081018">
                  <a:alpha val="0"/>
                </a:srgbClr>
              </a:gs>
              <a:gs pos="100000">
                <a:srgbClr val="D8A53A">
                  <a:alpha val="12000"/>
                </a:srgbClr>
              </a:gs>
            </a:gsLst>
            <a:lin ang="7200000"/>
          </a:gradFill>
          <a:ln w="0">
            <a:noFill/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0" y="1619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0" y="2476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0" y="3333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0" y="5048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0" y="5905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0" y="6762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85800" y="533400"/>
            <a:ext cx="1066800" cy="0"/>
          </a:xfrm>
          <a:prstGeom prst="line">
            <a:avLst/>
          </a:prstGeom>
          <a:noFill/>
          <a:ln w="38100">
            <a:solidFill>
              <a:srgbClr val="D8A53A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85800" y="609600"/>
            <a:ext cx="514350" cy="0"/>
          </a:xfrm>
          <a:prstGeom prst="line">
            <a:avLst/>
          </a:prstGeom>
          <a:noFill/>
          <a:ln w="38100">
            <a:solidFill>
              <a:srgbClr val="20C7B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201150" y="4191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07 / ONNX DEPLOYMENT</a:t>
            </a:r>
            <a:endParaRPr sz="825" b="1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819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DEPLOYMENT</a:t>
            </a:r>
            <a:endParaRPr sz="975" b="1">
              <a:solidFill>
                <a:srgbClr val="F1C66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5800" y="1123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92000"/>
              </a:lnSpc>
              <a:buNone/>
              <a:def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ONNX 部署：从权重到推理引擎</a:t>
            </a:r>
            <a:endParaRPr sz="27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63246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23人工智能1班 谒神月小组  /  08</a:t>
            </a:r>
            <a:endParaRPr sz="90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76300" y="2419350"/>
            <a:ext cx="2076450" cy="1295400"/>
          </a:xfrm>
          <a:prstGeom prst="roundRect">
            <a:avLst>
              <a:gd name="adj" fmla="val 13235"/>
            </a:avLst>
          </a:prstGeom>
          <a:solidFill>
            <a:srgbClr val="111C2A">
              <a:alpha val="96000"/>
            </a:srgbClr>
          </a:solidFill>
          <a:ln w="9525">
            <a:solidFill>
              <a:srgbClr val="354A6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1047750" y="2724150"/>
            <a:ext cx="1733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best_train2.pt</a:t>
            </a:r>
            <a:endParaRPr sz="165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47750" y="3143250"/>
            <a:ext cx="1733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训练权重</a:t>
            </a:r>
            <a:endParaRPr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右箭头 29"/>
          <p:cNvSpPr>
            <a:spLocks noGrp="1"/>
          </p:cNvSpPr>
          <p:nvPr/>
        </p:nvSpPr>
        <p:spPr>
          <a:xfrm>
            <a:off x="3009900" y="2914650"/>
            <a:ext cx="533400" cy="323850"/>
          </a:xfrm>
          <a:prstGeom prst="rightArrow">
            <a:avLst/>
          </a:prstGeom>
          <a:solidFill>
            <a:srgbClr val="D8A53A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31" name="圆角矩形 30"/>
          <p:cNvSpPr>
            <a:spLocks noGrp="1"/>
          </p:cNvSpPr>
          <p:nvPr/>
        </p:nvSpPr>
        <p:spPr>
          <a:xfrm>
            <a:off x="3590925" y="2419350"/>
            <a:ext cx="2076450" cy="1295400"/>
          </a:xfrm>
          <a:prstGeom prst="roundRect">
            <a:avLst>
              <a:gd name="adj" fmla="val 13235"/>
            </a:avLst>
          </a:prstGeom>
          <a:solidFill>
            <a:srgbClr val="111C2A">
              <a:alpha val="96000"/>
            </a:srgbClr>
          </a:solidFill>
          <a:ln w="9525">
            <a:solidFill>
              <a:srgbClr val="354A6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2" name="矩形 31"/>
          <p:cNvSpPr>
            <a:spLocks noGrp="1"/>
          </p:cNvSpPr>
          <p:nvPr/>
        </p:nvSpPr>
        <p:spPr>
          <a:xfrm>
            <a:off x="3762375" y="2724150"/>
            <a:ext cx="1733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ONNX export</a:t>
            </a:r>
            <a:endParaRPr sz="1650" b="1">
              <a:solidFill>
                <a:srgbClr val="D8A53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762375" y="3143250"/>
            <a:ext cx="1733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 640×640 / FP32</a:t>
            </a:r>
            <a:endParaRPr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右箭头 33"/>
          <p:cNvSpPr>
            <a:spLocks noGrp="1"/>
          </p:cNvSpPr>
          <p:nvPr/>
        </p:nvSpPr>
        <p:spPr>
          <a:xfrm>
            <a:off x="5724525" y="2914650"/>
            <a:ext cx="533400" cy="323850"/>
          </a:xfrm>
          <a:prstGeom prst="rightArrow">
            <a:avLst/>
          </a:prstGeom>
          <a:solidFill>
            <a:srgbClr val="D8A53A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35" name="圆角矩形 34"/>
          <p:cNvSpPr>
            <a:spLocks noGrp="1"/>
          </p:cNvSpPr>
          <p:nvPr/>
        </p:nvSpPr>
        <p:spPr>
          <a:xfrm>
            <a:off x="6305550" y="2419350"/>
            <a:ext cx="2076450" cy="1295400"/>
          </a:xfrm>
          <a:prstGeom prst="roundRect">
            <a:avLst>
              <a:gd name="adj" fmla="val 13235"/>
            </a:avLst>
          </a:prstGeom>
          <a:solidFill>
            <a:srgbClr val="111C2A">
              <a:alpha val="96000"/>
            </a:srgbClr>
          </a:solidFill>
          <a:ln w="9525">
            <a:solidFill>
              <a:srgbClr val="354A6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6" name="矩形 35"/>
          <p:cNvSpPr>
            <a:spLocks noGrp="1"/>
          </p:cNvSpPr>
          <p:nvPr/>
        </p:nvSpPr>
        <p:spPr>
          <a:xfrm>
            <a:off x="6477000" y="2724150"/>
            <a:ext cx="1733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20C7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1">
                <a:solidFill>
                  <a:srgbClr val="20C7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ONNX Runtime</a:t>
            </a:r>
            <a:endParaRPr sz="1650" b="1">
              <a:solidFill>
                <a:srgbClr val="20C7B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477000" y="3143250"/>
            <a:ext cx="1733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可实时推理</a:t>
            </a:r>
            <a:endParaRPr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右箭头 37"/>
          <p:cNvSpPr>
            <a:spLocks noGrp="1"/>
          </p:cNvSpPr>
          <p:nvPr/>
        </p:nvSpPr>
        <p:spPr>
          <a:xfrm>
            <a:off x="8439150" y="2914650"/>
            <a:ext cx="533400" cy="323850"/>
          </a:xfrm>
          <a:prstGeom prst="rightArrow">
            <a:avLst/>
          </a:prstGeom>
          <a:solidFill>
            <a:srgbClr val="D8A53A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39" name="圆角矩形 38"/>
          <p:cNvSpPr>
            <a:spLocks noGrp="1"/>
          </p:cNvSpPr>
          <p:nvPr/>
        </p:nvSpPr>
        <p:spPr>
          <a:xfrm>
            <a:off x="9020175" y="2419350"/>
            <a:ext cx="2076450" cy="1295400"/>
          </a:xfrm>
          <a:prstGeom prst="roundRect">
            <a:avLst>
              <a:gd name="adj" fmla="val 13235"/>
            </a:avLst>
          </a:prstGeom>
          <a:solidFill>
            <a:srgbClr val="111C2A">
              <a:alpha val="96000"/>
            </a:srgbClr>
          </a:solidFill>
          <a:ln w="9525">
            <a:solidFill>
              <a:srgbClr val="354A6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0" name="矩形 39"/>
          <p:cNvSpPr>
            <a:spLocks noGrp="1"/>
          </p:cNvSpPr>
          <p:nvPr/>
        </p:nvSpPr>
        <p:spPr>
          <a:xfrm>
            <a:off x="9191625" y="2724150"/>
            <a:ext cx="1733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PyQt5 App</a:t>
            </a:r>
            <a:endParaRPr sz="165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191625" y="3143250"/>
            <a:ext cx="1733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桌面端可视化</a:t>
            </a:r>
            <a:endParaRPr sz="11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1162050" y="434340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3" name="矩形 42"/>
          <p:cNvSpPr>
            <a:spLocks noGrp="1"/>
          </p:cNvSpPr>
          <p:nvPr/>
        </p:nvSpPr>
        <p:spPr>
          <a:xfrm>
            <a:off x="1162050" y="4343400"/>
            <a:ext cx="47625" cy="1104900"/>
          </a:xfrm>
          <a:prstGeom prst="rect">
            <a:avLst/>
          </a:prstGeom>
          <a:solidFill>
            <a:srgbClr val="D8A53A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390650" y="4364990"/>
            <a:ext cx="2400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模型体积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390650" y="4726940"/>
            <a:ext cx="2400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ONNX 文件约 9.4MB，远小于 PyTorch 权重，适合随应用一起发布。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4667250" y="434340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7" name="矩形 46"/>
          <p:cNvSpPr>
            <a:spLocks noGrp="1"/>
          </p:cNvSpPr>
          <p:nvPr/>
        </p:nvSpPr>
        <p:spPr>
          <a:xfrm>
            <a:off x="4667250" y="4343400"/>
            <a:ext cx="47625" cy="1104900"/>
          </a:xfrm>
          <a:prstGeom prst="rect">
            <a:avLst/>
          </a:prstGeom>
          <a:solidFill>
            <a:srgbClr val="20C7B4"/>
          </a:solidFill>
          <a:ln w="0">
            <a:noFill/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4895850" y="4364990"/>
            <a:ext cx="2400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业务逻辑分层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4895850" y="4726940"/>
            <a:ext cx="2400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ONNX 只负责检测；跟踪、计数、测速在应用层完成，便于迭代。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8172450" y="4343400"/>
            <a:ext cx="2857500" cy="1104900"/>
          </a:xfrm>
          <a:prstGeom prst="roundRect">
            <a:avLst>
              <a:gd name="adj" fmla="val 13793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51" name="矩形 50"/>
          <p:cNvSpPr>
            <a:spLocks noGrp="1"/>
          </p:cNvSpPr>
          <p:nvPr/>
        </p:nvSpPr>
        <p:spPr>
          <a:xfrm>
            <a:off x="8172450" y="4343400"/>
            <a:ext cx="47625" cy="1104900"/>
          </a:xfrm>
          <a:prstGeom prst="rect">
            <a:avLst/>
          </a:prstGeom>
          <a:solidFill>
            <a:srgbClr val="E96A5E"/>
          </a:solidFill>
          <a:ln w="0">
            <a:noFill/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8401050" y="4364990"/>
            <a:ext cx="2400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跨平台基础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401050" y="4726940"/>
            <a:ext cx="2400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ONNX Runtime 支持 CPU、GPU、TensorRT、OpenVINO 等后端。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018"/>
            </a:gs>
            <a:gs pos="58000">
              <a:srgbClr val="0E1724"/>
            </a:gs>
            <a:gs pos="100000">
              <a:srgbClr val="071018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0233A">
                  <a:alpha val="50000"/>
                </a:srgbClr>
              </a:gs>
              <a:gs pos="48000">
                <a:srgbClr val="081018">
                  <a:alpha val="0"/>
                </a:srgbClr>
              </a:gs>
              <a:gs pos="100000">
                <a:srgbClr val="D8A53A">
                  <a:alpha val="12000"/>
                </a:srgbClr>
              </a:gs>
            </a:gsLst>
            <a:lin ang="7200000"/>
          </a:gradFill>
          <a:ln w="0">
            <a:noFill/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0" y="1619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0" y="2476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0" y="3333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0" y="5048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0" y="5905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0" y="6762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85800" y="533400"/>
            <a:ext cx="1066800" cy="0"/>
          </a:xfrm>
          <a:prstGeom prst="line">
            <a:avLst/>
          </a:prstGeom>
          <a:noFill/>
          <a:ln w="38100">
            <a:solidFill>
              <a:srgbClr val="D8A53A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85800" y="609600"/>
            <a:ext cx="514350" cy="0"/>
          </a:xfrm>
          <a:prstGeom prst="line">
            <a:avLst/>
          </a:prstGeom>
          <a:noFill/>
          <a:ln w="38100">
            <a:solidFill>
              <a:srgbClr val="20C7B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201150" y="4191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08 / TRACKING &amp; COUNTING</a:t>
            </a:r>
            <a:endParaRPr sz="825" b="1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819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BUSINESS LOGIC</a:t>
            </a:r>
            <a:endParaRPr sz="975" b="1">
              <a:solidFill>
                <a:srgbClr val="F1C66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5800" y="1123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92000"/>
              </a:lnSpc>
              <a:buNone/>
              <a:def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跟踪计数：用轨迹提升可靠性</a:t>
            </a:r>
            <a:endParaRPr sz="27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63246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23人工智能1班 谒神月小组  /  09</a:t>
            </a:r>
            <a:endParaRPr sz="90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990600" y="2076450"/>
            <a:ext cx="400050" cy="400050"/>
          </a:xfrm>
          <a:prstGeom prst="ellipse">
            <a:avLst/>
          </a:prstGeom>
          <a:solidFill>
            <a:srgbClr val="D8A53A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90600" y="21431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08101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1">
                <a:solidFill>
                  <a:srgbClr val="08101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</a:t>
            </a:r>
            <a:endParaRPr sz="1275" b="1">
              <a:solidFill>
                <a:srgbClr val="08101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619250" y="2000250"/>
            <a:ext cx="1200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检测框</a:t>
            </a:r>
            <a:endParaRPr sz="172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857500" y="2038350"/>
            <a:ext cx="695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350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YOLO26 输出车辆候选框、类别、置信度</a:t>
            </a:r>
            <a:endParaRPr sz="1350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1190625" y="2514600"/>
            <a:ext cx="0" cy="419100"/>
          </a:xfrm>
          <a:prstGeom prst="line">
            <a:avLst/>
          </a:prstGeom>
          <a:noFill/>
          <a:ln w="19050">
            <a:solidFill>
              <a:srgbClr val="455A73"/>
            </a:solidFill>
            <a:prstDash val="solid"/>
          </a:ln>
        </p:spPr>
      </p:sp>
      <p:sp>
        <p:nvSpPr>
          <p:cNvPr id="32" name="椭圆 31"/>
          <p:cNvSpPr>
            <a:spLocks noGrp="1"/>
          </p:cNvSpPr>
          <p:nvPr/>
        </p:nvSpPr>
        <p:spPr>
          <a:xfrm>
            <a:off x="990600" y="2952750"/>
            <a:ext cx="400050" cy="400050"/>
          </a:xfrm>
          <a:prstGeom prst="ellipse">
            <a:avLst/>
          </a:prstGeom>
          <a:solidFill>
            <a:srgbClr val="20C7B4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90600" y="30194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08101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1">
                <a:solidFill>
                  <a:srgbClr val="08101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</a:t>
            </a:r>
            <a:endParaRPr sz="1275" b="1">
              <a:solidFill>
                <a:srgbClr val="08101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19250" y="2876550"/>
            <a:ext cx="1200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</a:t>
            </a:r>
            <a:endParaRPr sz="172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857500" y="2914650"/>
            <a:ext cx="695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350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0.4×IoU + 0.6×中心点距离，匈牙利算法全局匹配</a:t>
            </a:r>
            <a:endParaRPr sz="1350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1190625" y="3390900"/>
            <a:ext cx="0" cy="419100"/>
          </a:xfrm>
          <a:prstGeom prst="line">
            <a:avLst/>
          </a:prstGeom>
          <a:noFill/>
          <a:ln w="19050">
            <a:solidFill>
              <a:srgbClr val="455A73"/>
            </a:solidFill>
            <a:prstDash val="solid"/>
          </a:ln>
        </p:spPr>
      </p:sp>
      <p:sp>
        <p:nvSpPr>
          <p:cNvPr id="37" name="椭圆 36"/>
          <p:cNvSpPr>
            <a:spLocks noGrp="1"/>
          </p:cNvSpPr>
          <p:nvPr/>
        </p:nvSpPr>
        <p:spPr>
          <a:xfrm>
            <a:off x="990600" y="3829050"/>
            <a:ext cx="400050" cy="400050"/>
          </a:xfrm>
          <a:prstGeom prst="ellipse">
            <a:avLst/>
          </a:prstGeom>
          <a:solidFill>
            <a:srgbClr val="D8A53A"/>
          </a:solidFill>
          <a:ln w="0">
            <a:noFill/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90600" y="38957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08101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1">
                <a:solidFill>
                  <a:srgbClr val="08101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</a:t>
            </a:r>
            <a:endParaRPr sz="1275" b="1">
              <a:solidFill>
                <a:srgbClr val="08101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619250" y="3752850"/>
            <a:ext cx="1200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轨迹</a:t>
            </a:r>
            <a:endParaRPr sz="172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2857500" y="3790950"/>
            <a:ext cx="695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350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每辆车维护唯一 track_id，并用 EMA 平滑速度</a:t>
            </a:r>
            <a:endParaRPr sz="1350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1190625" y="4267200"/>
            <a:ext cx="0" cy="419100"/>
          </a:xfrm>
          <a:prstGeom prst="line">
            <a:avLst/>
          </a:prstGeom>
          <a:noFill/>
          <a:ln w="19050">
            <a:solidFill>
              <a:srgbClr val="455A73"/>
            </a:solidFill>
            <a:prstDash val="solid"/>
          </a:ln>
        </p:spPr>
      </p:sp>
      <p:sp>
        <p:nvSpPr>
          <p:cNvPr id="42" name="椭圆 41"/>
          <p:cNvSpPr>
            <a:spLocks noGrp="1"/>
          </p:cNvSpPr>
          <p:nvPr/>
        </p:nvSpPr>
        <p:spPr>
          <a:xfrm>
            <a:off x="990600" y="4705350"/>
            <a:ext cx="400050" cy="400050"/>
          </a:xfrm>
          <a:prstGeom prst="ellipse">
            <a:avLst/>
          </a:prstGeom>
          <a:solidFill>
            <a:srgbClr val="20C7B4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990600" y="47720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08101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1">
                <a:solidFill>
                  <a:srgbClr val="08101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</a:t>
            </a:r>
            <a:endParaRPr sz="1275" b="1">
              <a:solidFill>
                <a:srgbClr val="08101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619250" y="4629150"/>
            <a:ext cx="1200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7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计数</a:t>
            </a:r>
            <a:endParaRPr sz="172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2857500" y="4667250"/>
            <a:ext cx="695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350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穿越 ENTRY / EXIT 线后按方向归入 IN 或 OUT</a:t>
            </a:r>
            <a:endParaRPr sz="1350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8382000" y="2114550"/>
            <a:ext cx="2266950" cy="2133600"/>
          </a:xfrm>
          <a:prstGeom prst="roundRect">
            <a:avLst>
              <a:gd name="adj" fmla="val 8036"/>
            </a:avLst>
          </a:prstGeom>
          <a:solidFill>
            <a:srgbClr val="0D1622"/>
          </a:solidFill>
          <a:ln w="9525">
            <a:solidFill>
              <a:srgbClr val="354A62"/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8705850" y="2857500"/>
            <a:ext cx="1619250" cy="0"/>
          </a:xfrm>
          <a:prstGeom prst="line">
            <a:avLst/>
          </a:prstGeom>
          <a:noFill/>
          <a:ln w="47625">
            <a:solidFill>
              <a:srgbClr val="20C7B4"/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8705850" y="3524250"/>
            <a:ext cx="1619250" cy="0"/>
          </a:xfrm>
          <a:prstGeom prst="line">
            <a:avLst/>
          </a:prstGeom>
          <a:noFill/>
          <a:ln w="47625">
            <a:solidFill>
              <a:srgbClr val="E96A5E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8743950" y="2609850"/>
            <a:ext cx="914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050" b="1">
                <a:solidFill>
                  <a:srgbClr val="20C7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20C7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ENTRY</a:t>
            </a:r>
            <a:endParaRPr sz="1050" b="1">
              <a:solidFill>
                <a:srgbClr val="20C7B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743950" y="3276600"/>
            <a:ext cx="914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050" b="1">
                <a:solidFill>
                  <a:srgbClr val="E96A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 b="1">
                <a:solidFill>
                  <a:srgbClr val="E96A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EXIT</a:t>
            </a:r>
            <a:endParaRPr sz="1050" b="1">
              <a:solidFill>
                <a:srgbClr val="E96A5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610600" y="44577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15000"/>
              </a:lnSpc>
              <a:buNone/>
              <a:defRPr sz="135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播放中可直接拖动检测线</a:t>
            </a:r>
            <a:endParaRPr sz="135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buNone/>
              <a:defRPr sz="135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并同步右侧参数面板</a:t>
            </a:r>
            <a:endParaRPr sz="1350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018"/>
            </a:gs>
            <a:gs pos="58000">
              <a:srgbClr val="0E1724"/>
            </a:gs>
            <a:gs pos="100000">
              <a:srgbClr val="071018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0233A">
                  <a:alpha val="50000"/>
                </a:srgbClr>
              </a:gs>
              <a:gs pos="48000">
                <a:srgbClr val="081018">
                  <a:alpha val="0"/>
                </a:srgbClr>
              </a:gs>
              <a:gs pos="100000">
                <a:srgbClr val="D8A53A">
                  <a:alpha val="12000"/>
                </a:srgbClr>
              </a:gs>
            </a:gsLst>
            <a:lin ang="7200000"/>
          </a:gradFill>
          <a:ln w="0">
            <a:noFill/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0" y="1619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0" y="2476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0" y="3333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0" y="5048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0" y="5905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0" y="6762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85800" y="533400"/>
            <a:ext cx="1066800" cy="0"/>
          </a:xfrm>
          <a:prstGeom prst="line">
            <a:avLst/>
          </a:prstGeom>
          <a:noFill/>
          <a:ln w="38100">
            <a:solidFill>
              <a:srgbClr val="D8A53A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85800" y="609600"/>
            <a:ext cx="514350" cy="0"/>
          </a:xfrm>
          <a:prstGeom prst="line">
            <a:avLst/>
          </a:prstGeom>
          <a:noFill/>
          <a:ln w="38100">
            <a:solidFill>
              <a:srgbClr val="20C7B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201150" y="4191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09 / PRODUCT UI</a:t>
            </a:r>
            <a:endParaRPr sz="825" b="1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819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GUI DESIGN</a:t>
            </a:r>
            <a:endParaRPr sz="975" b="1">
              <a:solidFill>
                <a:srgbClr val="F1C66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5800" y="1123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92000"/>
              </a:lnSpc>
              <a:buNone/>
              <a:def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系统界面：实时监测工作台</a:t>
            </a:r>
            <a:endParaRPr sz="27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63246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23人工智能1班 谒神月小组  /  10</a:t>
            </a:r>
            <a:endParaRPr sz="90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628650" y="1885950"/>
            <a:ext cx="10934700" cy="3981450"/>
          </a:xfrm>
          <a:prstGeom prst="roundRect">
            <a:avLst>
              <a:gd name="adj" fmla="val 430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1"/>
          <a:srcRect t="25047" b="25047"/>
          <a:stretch>
            <a:fillRect/>
          </a:stretch>
        </p:blipFill>
        <p:spPr>
          <a:xfrm>
            <a:off x="781050" y="2038350"/>
            <a:ext cx="10629900" cy="3676650"/>
          </a:xfrm>
          <a:prstGeom prst="roundRect">
            <a:avLst>
              <a:gd name="adj" fmla="val 4145"/>
            </a:avLst>
          </a:prstGeom>
        </p:spPr>
      </p:pic>
      <p:sp>
        <p:nvSpPr>
          <p:cNvPr id="28" name="圆角矩形 27"/>
          <p:cNvSpPr>
            <a:spLocks noGrp="1"/>
          </p:cNvSpPr>
          <p:nvPr/>
        </p:nvSpPr>
        <p:spPr>
          <a:xfrm>
            <a:off x="1009650" y="5981700"/>
            <a:ext cx="1914525" cy="304800"/>
          </a:xfrm>
          <a:prstGeom prst="roundRect">
            <a:avLst>
              <a:gd name="adj" fmla="val 50000"/>
            </a:avLst>
          </a:prstGeom>
          <a:solidFill>
            <a:srgbClr val="D8A53A">
              <a:alpha val="18000"/>
            </a:srgbClr>
          </a:solidFill>
          <a:ln w="9525">
            <a:solidFill>
              <a:srgbClr val="D8A53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009650" y="6048375"/>
            <a:ext cx="19145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Light Kinpaku</a:t>
            </a:r>
            <a:endParaRPr sz="975" b="1">
              <a:solidFill>
                <a:srgbClr val="D8A53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2514600" y="5981700"/>
            <a:ext cx="1790700" cy="304800"/>
          </a:xfrm>
          <a:prstGeom prst="roundRect">
            <a:avLst>
              <a:gd name="adj" fmla="val 50000"/>
            </a:avLst>
          </a:prstGeom>
          <a:solidFill>
            <a:srgbClr val="20C7B4">
              <a:alpha val="18000"/>
            </a:srgbClr>
          </a:solidFill>
          <a:ln w="9525">
            <a:solidFill>
              <a:srgbClr val="20C7B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514600" y="6048375"/>
            <a:ext cx="1790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20C7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20C7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PLAY / PAUSE</a:t>
            </a:r>
            <a:endParaRPr sz="975" b="1">
              <a:solidFill>
                <a:srgbClr val="20C7B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3981450" y="5981700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D8A53A">
              <a:alpha val="18000"/>
            </a:srgbClr>
          </a:solidFill>
          <a:ln w="9525">
            <a:solidFill>
              <a:srgbClr val="D8A53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981450" y="6048375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固定统计卡片</a:t>
            </a:r>
            <a:endParaRPr sz="975" b="1">
              <a:solidFill>
                <a:srgbClr val="D8A53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5715000" y="5981700"/>
            <a:ext cx="1295400" cy="304800"/>
          </a:xfrm>
          <a:prstGeom prst="roundRect">
            <a:avLst>
              <a:gd name="adj" fmla="val 50000"/>
            </a:avLst>
          </a:prstGeom>
          <a:solidFill>
            <a:srgbClr val="4EA2FF">
              <a:alpha val="18000"/>
            </a:srgbClr>
          </a:solidFill>
          <a:ln w="9525">
            <a:solidFill>
              <a:srgbClr val="4EA2F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715000" y="6048375"/>
            <a:ext cx="1295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4EA2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4EA2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视频 / 摄像头</a:t>
            </a:r>
            <a:endParaRPr sz="975" b="1">
              <a:solidFill>
                <a:srgbClr val="4EA2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018"/>
            </a:gs>
            <a:gs pos="58000">
              <a:srgbClr val="0E1724"/>
            </a:gs>
            <a:gs pos="100000">
              <a:srgbClr val="071018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0233A">
                  <a:alpha val="50000"/>
                </a:srgbClr>
              </a:gs>
              <a:gs pos="48000">
                <a:srgbClr val="081018">
                  <a:alpha val="0"/>
                </a:srgbClr>
              </a:gs>
              <a:gs pos="100000">
                <a:srgbClr val="D8A53A">
                  <a:alpha val="12000"/>
                </a:srgbClr>
              </a:gs>
            </a:gsLst>
            <a:lin ang="7200000"/>
          </a:gradFill>
          <a:ln w="0">
            <a:noFill/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0" y="1619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0" y="2476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0" y="3333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0" y="5048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0" y="5905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0" y="6762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85800" y="533400"/>
            <a:ext cx="1066800" cy="0"/>
          </a:xfrm>
          <a:prstGeom prst="line">
            <a:avLst/>
          </a:prstGeom>
          <a:noFill/>
          <a:ln w="38100">
            <a:solidFill>
              <a:srgbClr val="D8A53A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85800" y="609600"/>
            <a:ext cx="514350" cy="0"/>
          </a:xfrm>
          <a:prstGeom prst="line">
            <a:avLst/>
          </a:prstGeom>
          <a:noFill/>
          <a:ln w="38100">
            <a:solidFill>
              <a:srgbClr val="20C7B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201150" y="4191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10 / UI &amp; PERFORMANCE</a:t>
            </a:r>
            <a:endParaRPr sz="825" b="1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819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APP POLISH</a:t>
            </a:r>
            <a:endParaRPr sz="975" b="1">
              <a:solidFill>
                <a:srgbClr val="F1C66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5800" y="1123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92000"/>
              </a:lnSpc>
              <a:buNone/>
              <a:def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播放优化：让演示更顺手</a:t>
            </a:r>
            <a:endParaRPr sz="27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63246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23人工智能1班 谒神月小组  /  11</a:t>
            </a:r>
            <a:endParaRPr sz="90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76300" y="2038350"/>
            <a:ext cx="3143250" cy="2000250"/>
          </a:xfrm>
          <a:prstGeom prst="roundRect">
            <a:avLst>
              <a:gd name="adj" fmla="val 7619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876300" y="2038350"/>
            <a:ext cx="47625" cy="2000250"/>
          </a:xfrm>
          <a:prstGeom prst="rect">
            <a:avLst/>
          </a:prstGeom>
          <a:solidFill>
            <a:srgbClr val="D8A53A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104900" y="2228850"/>
            <a:ext cx="2686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每帧只渲染一次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04900" y="2590800"/>
            <a:ext cx="26860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视频播放时避免同一帧重复绘制，减少 UI 绘制浪费，让检测画面更稳定。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4524375" y="2038350"/>
            <a:ext cx="3143250" cy="2000250"/>
          </a:xfrm>
          <a:prstGeom prst="roundRect">
            <a:avLst>
              <a:gd name="adj" fmla="val 7619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2" name="矩形 31"/>
          <p:cNvSpPr>
            <a:spLocks noGrp="1"/>
          </p:cNvSpPr>
          <p:nvPr/>
        </p:nvSpPr>
        <p:spPr>
          <a:xfrm>
            <a:off x="4524375" y="2038350"/>
            <a:ext cx="47625" cy="2000250"/>
          </a:xfrm>
          <a:prstGeom prst="rect">
            <a:avLst/>
          </a:prstGeom>
          <a:solidFill>
            <a:srgbClr val="20C7B4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752975" y="2228850"/>
            <a:ext cx="2686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播放中拖动线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752975" y="2590800"/>
            <a:ext cx="26860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视频或摄像头运行时，ENTRY / EXIT 线可以直接在画面中移动，并同步参数面板。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8172450" y="2038350"/>
            <a:ext cx="3143250" cy="2000250"/>
          </a:xfrm>
          <a:prstGeom prst="roundRect">
            <a:avLst>
              <a:gd name="adj" fmla="val 7619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6" name="矩形 35"/>
          <p:cNvSpPr>
            <a:spLocks noGrp="1"/>
          </p:cNvSpPr>
          <p:nvPr/>
        </p:nvSpPr>
        <p:spPr>
          <a:xfrm>
            <a:off x="8172450" y="2038350"/>
            <a:ext cx="47625" cy="2000250"/>
          </a:xfrm>
          <a:prstGeom prst="rect">
            <a:avLst/>
          </a:prstGeom>
          <a:solidFill>
            <a:srgbClr val="E96A5E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401050" y="2228850"/>
            <a:ext cx="2686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统计卡片固定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401050" y="2590800"/>
            <a:ext cx="26860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车辆统计始终固定在右侧上方，不随下方参数设置滚动，演示时信息不丢失。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2095500" y="4705350"/>
            <a:ext cx="8001000" cy="609600"/>
          </a:xfrm>
          <a:prstGeom prst="roundRect">
            <a:avLst>
              <a:gd name="adj" fmla="val 25000"/>
            </a:avLst>
          </a:prstGeom>
          <a:solidFill>
            <a:srgbClr val="D8A53A">
              <a:alpha val="16000"/>
            </a:srgbClr>
          </a:solidFill>
          <a:ln w="9525">
            <a:solidFill>
              <a:srgbClr val="D8A53A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2381250" y="4876800"/>
            <a:ext cx="769112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575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按钮设计：</a:t>
            </a:r>
            <a:r>
              <a:rPr sz="1575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PLAY / PAUSE / STOP 使用文字标签与色彩状态，而不是难读的特殊符号。</a:t>
            </a:r>
            <a:endParaRPr sz="1575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018"/>
            </a:gs>
            <a:gs pos="58000">
              <a:srgbClr val="0E1724"/>
            </a:gs>
            <a:gs pos="100000">
              <a:srgbClr val="071018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0233A">
                  <a:alpha val="50000"/>
                </a:srgbClr>
              </a:gs>
              <a:gs pos="48000">
                <a:srgbClr val="081018">
                  <a:alpha val="0"/>
                </a:srgbClr>
              </a:gs>
              <a:gs pos="100000">
                <a:srgbClr val="D8A53A">
                  <a:alpha val="12000"/>
                </a:srgbClr>
              </a:gs>
            </a:gsLst>
            <a:lin ang="7200000"/>
          </a:gradFill>
          <a:ln w="0">
            <a:noFill/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0" y="1619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0" y="2476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0" y="3333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0" y="5048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0" y="5905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0" y="6762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85800" y="533400"/>
            <a:ext cx="1066800" cy="0"/>
          </a:xfrm>
          <a:prstGeom prst="line">
            <a:avLst/>
          </a:prstGeom>
          <a:noFill/>
          <a:ln w="38100">
            <a:solidFill>
              <a:srgbClr val="D8A53A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85800" y="609600"/>
            <a:ext cx="514350" cy="0"/>
          </a:xfrm>
          <a:prstGeom prst="line">
            <a:avLst/>
          </a:prstGeom>
          <a:noFill/>
          <a:ln w="38100">
            <a:solidFill>
              <a:srgbClr val="20C7B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201150" y="4191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11 / END-TO-END TEST</a:t>
            </a:r>
            <a:endParaRPr sz="825" b="1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819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COUNTING RESULT</a:t>
            </a:r>
            <a:endParaRPr sz="975" b="1">
              <a:solidFill>
                <a:srgbClr val="F1C66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5800" y="1123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92000"/>
              </a:lnSpc>
              <a:buNone/>
              <a:def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端到端测试：检测、跟踪与统计</a:t>
            </a:r>
            <a:endParaRPr sz="27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63246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23人工智能1班 谒神月小组  /  12</a:t>
            </a:r>
            <a:endParaRPr sz="90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95350" y="2095500"/>
            <a:ext cx="1695450" cy="1028700"/>
          </a:xfrm>
          <a:prstGeom prst="roundRect">
            <a:avLst>
              <a:gd name="adj" fmla="val 16667"/>
            </a:avLst>
          </a:prstGeom>
          <a:solidFill>
            <a:srgbClr val="101A28">
              <a:alpha val="96000"/>
            </a:srgbClr>
          </a:solidFill>
          <a:ln w="9525">
            <a:solidFill>
              <a:srgbClr val="30435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1066800" y="2266950"/>
            <a:ext cx="135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</a:t>
            </a:r>
            <a:r>
              <a:rPr lang="en-US" sz="2550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</a:t>
            </a:r>
            <a:endParaRPr lang="en-US" sz="2550" b="1">
              <a:solidFill>
                <a:srgbClr val="D8A53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66800" y="27813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总车辆数</a:t>
            </a:r>
            <a:endParaRPr sz="1125">
              <a:solidFill>
                <a:srgbClr val="B8C4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2914650" y="2095500"/>
            <a:ext cx="1695450" cy="1028700"/>
          </a:xfrm>
          <a:prstGeom prst="roundRect">
            <a:avLst>
              <a:gd name="adj" fmla="val 16667"/>
            </a:avLst>
          </a:prstGeom>
          <a:solidFill>
            <a:srgbClr val="101A28">
              <a:alpha val="96000"/>
            </a:srgbClr>
          </a:solidFill>
          <a:ln w="9525">
            <a:solidFill>
              <a:srgbClr val="30435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1" name="矩形 30"/>
          <p:cNvSpPr>
            <a:spLocks noGrp="1"/>
          </p:cNvSpPr>
          <p:nvPr/>
        </p:nvSpPr>
        <p:spPr>
          <a:xfrm>
            <a:off x="3086100" y="2266950"/>
            <a:ext cx="135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E96A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sz="2550" b="1">
                <a:solidFill>
                  <a:srgbClr val="E96A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</a:t>
            </a:r>
            <a:endParaRPr lang="en-US" sz="2550" b="1">
              <a:solidFill>
                <a:srgbClr val="E96A5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086100" y="27813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上行 / OUT</a:t>
            </a:r>
            <a:endParaRPr sz="1125">
              <a:solidFill>
                <a:srgbClr val="B8C4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4933950" y="2095500"/>
            <a:ext cx="1695450" cy="1028700"/>
          </a:xfrm>
          <a:prstGeom prst="roundRect">
            <a:avLst>
              <a:gd name="adj" fmla="val 16667"/>
            </a:avLst>
          </a:prstGeom>
          <a:solidFill>
            <a:srgbClr val="101A28">
              <a:alpha val="96000"/>
            </a:srgbClr>
          </a:solidFill>
          <a:ln w="9525">
            <a:solidFill>
              <a:srgbClr val="30435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4" name="矩形 33"/>
          <p:cNvSpPr>
            <a:spLocks noGrp="1"/>
          </p:cNvSpPr>
          <p:nvPr/>
        </p:nvSpPr>
        <p:spPr>
          <a:xfrm>
            <a:off x="5105400" y="2266950"/>
            <a:ext cx="135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20C7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sz="2550" b="1">
                <a:solidFill>
                  <a:srgbClr val="20C7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7</a:t>
            </a:r>
            <a:endParaRPr lang="en-US" sz="2550" b="1">
              <a:solidFill>
                <a:srgbClr val="20C7B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105400" y="27813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下行 / IN</a:t>
            </a:r>
            <a:endParaRPr sz="1125">
              <a:solidFill>
                <a:srgbClr val="B8C4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6953250" y="2095500"/>
            <a:ext cx="1695450" cy="1028700"/>
          </a:xfrm>
          <a:prstGeom prst="roundRect">
            <a:avLst>
              <a:gd name="adj" fmla="val 16667"/>
            </a:avLst>
          </a:prstGeom>
          <a:solidFill>
            <a:srgbClr val="101A28">
              <a:alpha val="96000"/>
            </a:srgbClr>
          </a:solidFill>
          <a:ln w="9525">
            <a:solidFill>
              <a:srgbClr val="30435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7" name="矩形 36"/>
          <p:cNvSpPr>
            <a:spLocks noGrp="1"/>
          </p:cNvSpPr>
          <p:nvPr/>
        </p:nvSpPr>
        <p:spPr>
          <a:xfrm>
            <a:off x="7124700" y="2266950"/>
            <a:ext cx="135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4EA2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1">
                <a:solidFill>
                  <a:srgbClr val="4EA2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21.9</a:t>
            </a:r>
            <a:endParaRPr sz="2550" b="1">
              <a:solidFill>
                <a:srgbClr val="4EA2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124700" y="27813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平均车速 km/h</a:t>
            </a:r>
            <a:endParaRPr sz="1125">
              <a:solidFill>
                <a:srgbClr val="B8C4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8972550" y="2095500"/>
            <a:ext cx="1695450" cy="1028700"/>
          </a:xfrm>
          <a:prstGeom prst="roundRect">
            <a:avLst>
              <a:gd name="adj" fmla="val 16667"/>
            </a:avLst>
          </a:prstGeom>
          <a:solidFill>
            <a:srgbClr val="101A28">
              <a:alpha val="96000"/>
            </a:srgbClr>
          </a:solidFill>
          <a:ln w="9525">
            <a:solidFill>
              <a:srgbClr val="30435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0" name="矩形 39"/>
          <p:cNvSpPr>
            <a:spLocks noGrp="1"/>
          </p:cNvSpPr>
          <p:nvPr/>
        </p:nvSpPr>
        <p:spPr>
          <a:xfrm>
            <a:off x="9144000" y="2266950"/>
            <a:ext cx="1352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36</a:t>
            </a:r>
            <a:endParaRPr sz="2550" b="1">
              <a:solidFill>
                <a:srgbClr val="D8A53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144000" y="27813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推理 FPS</a:t>
            </a:r>
            <a:endParaRPr sz="1125">
              <a:solidFill>
                <a:srgbClr val="B8C4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990600" y="3860800"/>
            <a:ext cx="4629150" cy="2157095"/>
          </a:xfrm>
          <a:prstGeom prst="roundRect">
            <a:avLst>
              <a:gd name="adj" fmla="val 8333"/>
            </a:avLst>
          </a:prstGeom>
          <a:solidFill>
            <a:srgbClr val="111C2A">
              <a:alpha val="96000"/>
            </a:srgbClr>
          </a:solidFill>
          <a:ln w="9525">
            <a:solidFill>
              <a:srgbClr val="32465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99" name="Chart"/>
          <p:cNvGraphicFramePr/>
          <p:nvPr/>
        </p:nvGraphicFramePr>
        <p:xfrm>
          <a:off x="1200150" y="4070350"/>
          <a:ext cx="2000250" cy="1638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3" name="矩形 42"/>
          <p:cNvSpPr>
            <a:spLocks noGrp="1"/>
          </p:cNvSpPr>
          <p:nvPr/>
        </p:nvSpPr>
        <p:spPr>
          <a:xfrm>
            <a:off x="3409950" y="41084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方向分布</a:t>
            </a:r>
            <a:endParaRPr sz="18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409950" y="4527550"/>
            <a:ext cx="17621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22000"/>
              </a:lnSpc>
              <a:buNone/>
              <a:defRPr sz="1500">
                <a:solidFill>
                  <a:srgbClr val="D8E0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D8E0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OUT：6 辆 / 40%</a:t>
            </a:r>
            <a:endParaRPr sz="1500">
              <a:solidFill>
                <a:srgbClr val="D8E0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1500">
                <a:solidFill>
                  <a:srgbClr val="D8E0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D8E0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IN：9 辆 / 60%</a:t>
            </a:r>
            <a:endParaRPr sz="1500">
              <a:solidFill>
                <a:srgbClr val="D8E0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1500">
                <a:solidFill>
                  <a:srgbClr val="D8E0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D8E0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总计：15 辆</a:t>
            </a:r>
            <a:endParaRPr sz="1500">
              <a:solidFill>
                <a:srgbClr val="D8E0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3390900" y="5480050"/>
            <a:ext cx="1562100" cy="0"/>
          </a:xfrm>
          <a:prstGeom prst="line">
            <a:avLst/>
          </a:prstGeom>
          <a:noFill/>
          <a:ln w="19050">
            <a:solidFill>
              <a:srgbClr val="D8A53A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3409950" y="5603875"/>
            <a:ext cx="1866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环状图已补充数值与占比，使用深色底避免留白。</a:t>
            </a:r>
            <a:endParaRPr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6191250" y="3848100"/>
            <a:ext cx="4533900" cy="2279650"/>
          </a:xfrm>
          <a:prstGeom prst="roundRect">
            <a:avLst>
              <a:gd name="adj" fmla="val 9474"/>
            </a:avLst>
          </a:prstGeom>
          <a:solidFill>
            <a:srgbClr val="111C2A">
              <a:alpha val="96000"/>
            </a:srgbClr>
          </a:solidFill>
          <a:ln w="9525">
            <a:solidFill>
              <a:srgbClr val="32465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8" name="矩形 47"/>
          <p:cNvSpPr>
            <a:spLocks noGrp="1"/>
          </p:cNvSpPr>
          <p:nvPr/>
        </p:nvSpPr>
        <p:spPr>
          <a:xfrm>
            <a:off x="6496050" y="4000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统计逻辑</a:t>
            </a:r>
            <a:endParaRPr sz="18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496050" y="4438650"/>
            <a:ext cx="371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425">
                <a:solidFill>
                  <a:srgbClr val="D8E0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D8E0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唯一 track_id 去重，方向判断依据轨迹首尾总体位移，减少检测框抖动导致的误计数。</a:t>
            </a:r>
            <a:endParaRPr sz="1425">
              <a:solidFill>
                <a:srgbClr val="D8E0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496050" y="51816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125">
                <a:solidFill>
                  <a:srgbClr val="D7E0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D7E0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ONNX 推理：36 FPS / CPU</a:t>
            </a:r>
            <a:endParaRPr sz="1125">
              <a:solidFill>
                <a:srgbClr val="D7E0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6496050" y="5448300"/>
            <a:ext cx="2857500" cy="114300"/>
          </a:xfrm>
          <a:prstGeom prst="roundRect">
            <a:avLst>
              <a:gd name="adj" fmla="val 50000"/>
            </a:avLst>
          </a:prstGeom>
          <a:solidFill>
            <a:srgbClr val="223247"/>
          </a:solidFill>
          <a:ln w="0">
            <a:noFill/>
            <a:prstDash val="solid"/>
          </a:ln>
        </p:spPr>
      </p:sp>
      <p:sp>
        <p:nvSpPr>
          <p:cNvPr id="52" name="圆角矩形 51"/>
          <p:cNvSpPr>
            <a:spLocks noGrp="1"/>
          </p:cNvSpPr>
          <p:nvPr/>
        </p:nvSpPr>
        <p:spPr>
          <a:xfrm>
            <a:off x="6496050" y="5448300"/>
            <a:ext cx="2857500" cy="114300"/>
          </a:xfrm>
          <a:prstGeom prst="roundRect">
            <a:avLst>
              <a:gd name="adj" fmla="val 50000"/>
            </a:avLst>
          </a:prstGeom>
          <a:solidFill>
            <a:srgbClr val="D8A53A"/>
          </a:solidFill>
          <a:ln w="0">
            <a:noFill/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9486900" y="53816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050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100%</a:t>
            </a:r>
            <a:endParaRPr sz="1050">
              <a:solidFill>
                <a:srgbClr val="D8A53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6496050" y="56578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125">
                <a:solidFill>
                  <a:srgbClr val="D7E0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D7E0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完整管线：28 FPS</a:t>
            </a:r>
            <a:endParaRPr sz="1125">
              <a:solidFill>
                <a:srgbClr val="D7E0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6496050" y="5924550"/>
            <a:ext cx="2857500" cy="114300"/>
          </a:xfrm>
          <a:prstGeom prst="roundRect">
            <a:avLst>
              <a:gd name="adj" fmla="val 50000"/>
            </a:avLst>
          </a:prstGeom>
          <a:solidFill>
            <a:srgbClr val="223247"/>
          </a:solidFill>
          <a:ln w="0">
            <a:noFill/>
            <a:prstDash val="solid"/>
          </a:ln>
        </p:spPr>
      </p:sp>
      <p:sp>
        <p:nvSpPr>
          <p:cNvPr id="56" name="圆角矩形 55"/>
          <p:cNvSpPr>
            <a:spLocks noGrp="1"/>
          </p:cNvSpPr>
          <p:nvPr/>
        </p:nvSpPr>
        <p:spPr>
          <a:xfrm>
            <a:off x="6496050" y="5924550"/>
            <a:ext cx="2228850" cy="114300"/>
          </a:xfrm>
          <a:prstGeom prst="roundRect">
            <a:avLst>
              <a:gd name="adj" fmla="val 50000"/>
            </a:avLst>
          </a:prstGeom>
          <a:solidFill>
            <a:srgbClr val="20C7B4"/>
          </a:solidFill>
          <a:ln w="0">
            <a:noFill/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9486900" y="585787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050">
                <a:solidFill>
                  <a:srgbClr val="20C7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50">
                <a:solidFill>
                  <a:srgbClr val="20C7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78%</a:t>
            </a:r>
            <a:endParaRPr sz="1050">
              <a:solidFill>
                <a:srgbClr val="20C7B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018"/>
            </a:gs>
            <a:gs pos="58000">
              <a:srgbClr val="0E1724"/>
            </a:gs>
            <a:gs pos="100000">
              <a:srgbClr val="071018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0233A">
                  <a:alpha val="50000"/>
                </a:srgbClr>
              </a:gs>
              <a:gs pos="48000">
                <a:srgbClr val="081018">
                  <a:alpha val="0"/>
                </a:srgbClr>
              </a:gs>
              <a:gs pos="100000">
                <a:srgbClr val="D8A53A">
                  <a:alpha val="12000"/>
                </a:srgbClr>
              </a:gs>
            </a:gsLst>
            <a:lin ang="7200000"/>
          </a:gradFill>
          <a:ln w="0">
            <a:noFill/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0" y="1619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0" y="2476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0" y="3333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0" y="5048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0" y="5905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0" y="6762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85800" y="533400"/>
            <a:ext cx="1066800" cy="0"/>
          </a:xfrm>
          <a:prstGeom prst="line">
            <a:avLst/>
          </a:prstGeom>
          <a:noFill/>
          <a:ln w="38100">
            <a:solidFill>
              <a:srgbClr val="D8A53A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85800" y="609600"/>
            <a:ext cx="514350" cy="0"/>
          </a:xfrm>
          <a:prstGeom prst="line">
            <a:avLst/>
          </a:prstGeom>
          <a:noFill/>
          <a:ln w="38100">
            <a:solidFill>
              <a:srgbClr val="20C7B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201150" y="4191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12 / DELIVERY</a:t>
            </a:r>
            <a:endParaRPr sz="825" b="1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819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PACKAGED APP</a:t>
            </a:r>
            <a:endParaRPr sz="975" b="1">
              <a:solidFill>
                <a:srgbClr val="F1C66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5800" y="1123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92000"/>
              </a:lnSpc>
              <a:buNone/>
              <a:def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应用交付：独立 Windows exe</a:t>
            </a:r>
            <a:endParaRPr sz="27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63246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23人工智能1班 谒神月小组  /  13</a:t>
            </a:r>
            <a:endParaRPr sz="90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57250" y="2038350"/>
            <a:ext cx="4000500" cy="2667000"/>
          </a:xfrm>
          <a:prstGeom prst="roundRect">
            <a:avLst>
              <a:gd name="adj" fmla="val 7143"/>
            </a:avLst>
          </a:prstGeom>
          <a:solidFill>
            <a:srgbClr val="111C2A">
              <a:alpha val="95000"/>
            </a:srgbClr>
          </a:solidFill>
          <a:ln w="9525">
            <a:solidFill>
              <a:srgbClr val="32465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圆角矩形 27"/>
          <p:cNvSpPr>
            <a:spLocks noGrp="1"/>
          </p:cNvSpPr>
          <p:nvPr/>
        </p:nvSpPr>
        <p:spPr>
          <a:xfrm>
            <a:off x="1352550" y="2400300"/>
            <a:ext cx="540068" cy="540068"/>
          </a:xfrm>
          <a:prstGeom prst="roundRect">
            <a:avLst>
              <a:gd name="adj" fmla="val 23810"/>
            </a:avLst>
          </a:prstGeom>
          <a:solidFill>
            <a:srgbClr val="D8A53A"/>
          </a:solidFill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471365" y="2508313"/>
            <a:ext cx="302438" cy="302438"/>
          </a:xfrm>
          <a:prstGeom prst="line">
            <a:avLst/>
          </a:prstGeom>
          <a:noFill/>
          <a:ln w="64294">
            <a:solidFill>
              <a:srgbClr val="081018"/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1471365" y="2508313"/>
            <a:ext cx="205226" cy="205226"/>
          </a:xfrm>
          <a:prstGeom prst="line">
            <a:avLst/>
          </a:prstGeom>
          <a:noFill/>
          <a:ln w="25718">
            <a:solidFill>
              <a:srgbClr val="081018"/>
            </a:solidFill>
            <a:prstDash val="solid"/>
          </a:ln>
        </p:spPr>
      </p:sp>
      <p:sp>
        <p:nvSpPr>
          <p:cNvPr id="31" name="椭圆 30"/>
          <p:cNvSpPr>
            <a:spLocks noGrp="1"/>
          </p:cNvSpPr>
          <p:nvPr/>
        </p:nvSpPr>
        <p:spPr>
          <a:xfrm>
            <a:off x="1433560" y="2481310"/>
            <a:ext cx="64808" cy="64808"/>
          </a:xfrm>
          <a:prstGeom prst="ellipse">
            <a:avLst/>
          </a:prstGeom>
          <a:solidFill>
            <a:srgbClr val="20C7B4"/>
          </a:solidFill>
          <a:ln w="0">
            <a:noFill/>
            <a:prstDash val="solid"/>
          </a:ln>
        </p:spPr>
      </p:sp>
      <p:sp>
        <p:nvSpPr>
          <p:cNvPr id="32" name="椭圆 31"/>
          <p:cNvSpPr>
            <a:spLocks noGrp="1"/>
          </p:cNvSpPr>
          <p:nvPr/>
        </p:nvSpPr>
        <p:spPr>
          <a:xfrm>
            <a:off x="1746799" y="2794549"/>
            <a:ext cx="64808" cy="64808"/>
          </a:xfrm>
          <a:prstGeom prst="ellipse">
            <a:avLst/>
          </a:prstGeom>
          <a:solidFill>
            <a:srgbClr val="081018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343660" y="3124200"/>
            <a:ext cx="355028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875" b="1">
                <a:solidFill>
                  <a:srgbClr val="F4F7F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1">
                <a:solidFill>
                  <a:srgbClr val="F4F7F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VehicleDetectionSystem.exe</a:t>
            </a:r>
            <a:endParaRPr sz="1875" b="1">
              <a:solidFill>
                <a:srgbClr val="F4F7F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352550" y="3500755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35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双击即可启动</a:t>
            </a:r>
            <a:endParaRPr sz="135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buNone/>
              <a:defRPr sz="135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无需用户手动配置 Python 环境或训练框架</a:t>
            </a:r>
            <a:endParaRPr sz="135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5486400" y="2038350"/>
            <a:ext cx="2571750" cy="1569720"/>
          </a:xfrm>
          <a:prstGeom prst="roundRect">
            <a:avLst>
              <a:gd name="adj" fmla="val 12121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6" name="矩形 35"/>
          <p:cNvSpPr>
            <a:spLocks noGrp="1"/>
          </p:cNvSpPr>
          <p:nvPr/>
        </p:nvSpPr>
        <p:spPr>
          <a:xfrm>
            <a:off x="5457825" y="2038350"/>
            <a:ext cx="76200" cy="1513840"/>
          </a:xfrm>
          <a:prstGeom prst="rect">
            <a:avLst/>
          </a:prstGeom>
          <a:solidFill>
            <a:srgbClr val="D8A53A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715000" y="222885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封装内容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715000" y="2590800"/>
            <a:ext cx="2114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PyQt5 界面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ONNX Runtime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OpenCV 运行库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best_train2.onnx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8591550" y="2038350"/>
            <a:ext cx="2571750" cy="1257300"/>
          </a:xfrm>
          <a:prstGeom prst="roundRect">
            <a:avLst>
              <a:gd name="adj" fmla="val 12121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0" name="矩形 39"/>
          <p:cNvSpPr>
            <a:spLocks noGrp="1"/>
          </p:cNvSpPr>
          <p:nvPr/>
        </p:nvSpPr>
        <p:spPr>
          <a:xfrm>
            <a:off x="8591550" y="2038350"/>
            <a:ext cx="47625" cy="1257300"/>
          </a:xfrm>
          <a:prstGeom prst="rect">
            <a:avLst/>
          </a:prstGeom>
          <a:solidFill>
            <a:srgbClr val="20C7B4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820150" y="222885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资源定位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820150" y="2590800"/>
            <a:ext cx="2114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resource_path() 统一处理源码运行与 exe 解包路径。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5486400" y="3752850"/>
            <a:ext cx="2571750" cy="1257300"/>
          </a:xfrm>
          <a:prstGeom prst="roundRect">
            <a:avLst>
              <a:gd name="adj" fmla="val 12121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4" name="矩形 43"/>
          <p:cNvSpPr>
            <a:spLocks noGrp="1"/>
          </p:cNvSpPr>
          <p:nvPr/>
        </p:nvSpPr>
        <p:spPr>
          <a:xfrm>
            <a:off x="5486400" y="3752850"/>
            <a:ext cx="47625" cy="1257300"/>
          </a:xfrm>
          <a:prstGeom prst="rect">
            <a:avLst/>
          </a:prstGeom>
          <a:solidFill>
            <a:srgbClr val="E96A5E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5715000" y="394335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模型依赖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5715000" y="4305300"/>
            <a:ext cx="2114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部署端只保留推理模型，不携带训练数据和训练源码。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8591550" y="3752850"/>
            <a:ext cx="2571750" cy="1257300"/>
          </a:xfrm>
          <a:prstGeom prst="roundRect">
            <a:avLst>
              <a:gd name="adj" fmla="val 12121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8" name="矩形 47"/>
          <p:cNvSpPr>
            <a:spLocks noGrp="1"/>
          </p:cNvSpPr>
          <p:nvPr/>
        </p:nvSpPr>
        <p:spPr>
          <a:xfrm>
            <a:off x="8591550" y="3752850"/>
            <a:ext cx="47625" cy="1257300"/>
          </a:xfrm>
          <a:prstGeom prst="rect">
            <a:avLst/>
          </a:prstGeom>
          <a:solidFill>
            <a:srgbClr val="4EA2FF"/>
          </a:solidFill>
          <a:ln w="0">
            <a:noFill/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8820150" y="394335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演示价值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820150" y="4305300"/>
            <a:ext cx="2114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便于课堂答辩现场展示，也便于后续交付测试。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018"/>
            </a:gs>
            <a:gs pos="58000">
              <a:srgbClr val="0E1724"/>
            </a:gs>
            <a:gs pos="100000">
              <a:srgbClr val="071018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0233A">
                  <a:alpha val="50000"/>
                </a:srgbClr>
              </a:gs>
              <a:gs pos="48000">
                <a:srgbClr val="081018">
                  <a:alpha val="0"/>
                </a:srgbClr>
              </a:gs>
              <a:gs pos="100000">
                <a:srgbClr val="D8A53A">
                  <a:alpha val="12000"/>
                </a:srgbClr>
              </a:gs>
            </a:gsLst>
            <a:lin ang="7200000"/>
          </a:gradFill>
          <a:ln w="0">
            <a:noFill/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0" y="1619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0" y="2476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0" y="3333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0" y="5048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0" y="5905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0" y="6762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85800" y="533400"/>
            <a:ext cx="1066800" cy="0"/>
          </a:xfrm>
          <a:prstGeom prst="line">
            <a:avLst/>
          </a:prstGeom>
          <a:noFill/>
          <a:ln w="38100">
            <a:solidFill>
              <a:srgbClr val="D8A53A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85800" y="609600"/>
            <a:ext cx="514350" cy="0"/>
          </a:xfrm>
          <a:prstGeom prst="line">
            <a:avLst/>
          </a:prstGeom>
          <a:noFill/>
          <a:ln w="38100">
            <a:solidFill>
              <a:srgbClr val="20C7B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201150" y="4191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13 / NEXT STEPS</a:t>
            </a:r>
            <a:endParaRPr sz="825" b="1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819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75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LIMITATIONS &amp; FUTURE</a:t>
            </a:r>
            <a:endParaRPr sz="975" b="1">
              <a:solidFill>
                <a:srgbClr val="F1C66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5800" y="112395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92000"/>
              </a:lnSpc>
              <a:buNone/>
              <a:def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不足与展望：走向真实场景</a:t>
            </a:r>
            <a:endParaRPr sz="2775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63246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23人工智能1班 谒神月小组  /  14</a:t>
            </a:r>
            <a:endParaRPr sz="90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52500" y="2038350"/>
            <a:ext cx="4476750" cy="1352550"/>
          </a:xfrm>
          <a:prstGeom prst="roundRect">
            <a:avLst>
              <a:gd name="adj" fmla="val 11268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952500" y="2038350"/>
            <a:ext cx="47625" cy="1352550"/>
          </a:xfrm>
          <a:prstGeom prst="rect">
            <a:avLst/>
          </a:prstGeom>
          <a:solidFill>
            <a:srgbClr val="D8A53A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181100" y="2228850"/>
            <a:ext cx="401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检测精度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81100" y="2590800"/>
            <a:ext cx="4019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密集遮挡下 Recall=67.22%，others AP=0.3143，可升级模型或强化交通场景数据增强。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6286500" y="2038350"/>
            <a:ext cx="4476750" cy="1352550"/>
          </a:xfrm>
          <a:prstGeom prst="roundRect">
            <a:avLst>
              <a:gd name="adj" fmla="val 11268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2" name="矩形 31"/>
          <p:cNvSpPr>
            <a:spLocks noGrp="1"/>
          </p:cNvSpPr>
          <p:nvPr/>
        </p:nvSpPr>
        <p:spPr>
          <a:xfrm>
            <a:off x="6286500" y="2038350"/>
            <a:ext cx="47625" cy="1352550"/>
          </a:xfrm>
          <a:prstGeom prst="rect">
            <a:avLst/>
          </a:prstGeom>
          <a:solidFill>
            <a:srgbClr val="20C7B4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515100" y="2228850"/>
            <a:ext cx="401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跟踪稳定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515100" y="2590800"/>
            <a:ext cx="4019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快速运动和遮挡时可能 ID 切换，后续可引入 Re-ID 或 ByteTrack 二次关联思想。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952500" y="4000500"/>
            <a:ext cx="4476750" cy="1352550"/>
          </a:xfrm>
          <a:prstGeom prst="roundRect">
            <a:avLst>
              <a:gd name="adj" fmla="val 11268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6" name="矩形 35"/>
          <p:cNvSpPr>
            <a:spLocks noGrp="1"/>
          </p:cNvSpPr>
          <p:nvPr/>
        </p:nvSpPr>
        <p:spPr>
          <a:xfrm>
            <a:off x="952500" y="4000500"/>
            <a:ext cx="47625" cy="1352550"/>
          </a:xfrm>
          <a:prstGeom prst="rect">
            <a:avLst/>
          </a:prstGeom>
          <a:solidFill>
            <a:srgbClr val="E96A5E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181100" y="4191000"/>
            <a:ext cx="401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端侧效率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181100" y="4552950"/>
            <a:ext cx="4019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 ONNX CPU 约 36 FPS，后续可探索 INT8 量化、剪枝与 Jetson 端侧测试。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6286500" y="4000500"/>
            <a:ext cx="4476750" cy="1352550"/>
          </a:xfrm>
          <a:prstGeom prst="roundRect">
            <a:avLst>
              <a:gd name="adj" fmla="val 11268"/>
            </a:avLst>
          </a:prstGeom>
          <a:solidFill>
            <a:srgbClr val="111C2A">
              <a:alpha val="92000"/>
            </a:srgbClr>
          </a:solidFill>
          <a:ln w="9525">
            <a:solidFill>
              <a:srgbClr val="2B3E5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0" name="矩形 39"/>
          <p:cNvSpPr>
            <a:spLocks noGrp="1"/>
          </p:cNvSpPr>
          <p:nvPr/>
        </p:nvSpPr>
        <p:spPr>
          <a:xfrm>
            <a:off x="6286500" y="4000500"/>
            <a:ext cx="47625" cy="1352550"/>
          </a:xfrm>
          <a:prstGeom prst="rect">
            <a:avLst/>
          </a:prstGeom>
          <a:solidFill>
            <a:srgbClr val="4EA2FF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515100" y="4191000"/>
            <a:ext cx="401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功能扩展</a:t>
            </a:r>
            <a:endParaRPr sz="150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515100" y="4552950"/>
            <a:ext cx="4019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  <a:def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C8D2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拓展轨迹预测、异常行为检测、拥堵态势预测和多摄像头联合跟踪。</a:t>
            </a:r>
            <a:endParaRPr sz="1275">
              <a:solidFill>
                <a:srgbClr val="C8D2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018"/>
            </a:gs>
            <a:gs pos="58000">
              <a:srgbClr val="0E1724"/>
            </a:gs>
            <a:gs pos="100000">
              <a:srgbClr val="071018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0233A">
                  <a:alpha val="50000"/>
                </a:srgbClr>
              </a:gs>
              <a:gs pos="48000">
                <a:srgbClr val="081018">
                  <a:alpha val="0"/>
                </a:srgbClr>
              </a:gs>
              <a:gs pos="100000">
                <a:srgbClr val="D8A53A">
                  <a:alpha val="12000"/>
                </a:srgbClr>
              </a:gs>
            </a:gsLst>
            <a:lin ang="7200000"/>
          </a:gradFill>
          <a:ln w="0">
            <a:noFill/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762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1905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3048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4191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334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6477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7620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763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9906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1049000" y="0"/>
            <a:ext cx="0" cy="6858000"/>
          </a:xfrm>
          <a:prstGeom prst="line">
            <a:avLst/>
          </a:prstGeom>
          <a:noFill/>
          <a:ln w="9525">
            <a:solidFill>
              <a:srgbClr val="2B3E54">
                <a:alpha val="30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0" y="762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0" y="1619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0" y="2476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0" y="3333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0" y="41910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0" y="50482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0" y="590550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0" y="6762750"/>
            <a:ext cx="12192000" cy="0"/>
          </a:xfrm>
          <a:prstGeom prst="line">
            <a:avLst/>
          </a:prstGeom>
          <a:noFill/>
          <a:ln w="9525">
            <a:solidFill>
              <a:srgbClr val="2B3E54">
                <a:alpha val="22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85800" y="533400"/>
            <a:ext cx="1066800" cy="0"/>
          </a:xfrm>
          <a:prstGeom prst="line">
            <a:avLst/>
          </a:prstGeom>
          <a:noFill/>
          <a:ln w="38100">
            <a:solidFill>
              <a:srgbClr val="D8A53A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85800" y="609600"/>
            <a:ext cx="514350" cy="0"/>
          </a:xfrm>
          <a:prstGeom prst="line">
            <a:avLst/>
          </a:prstGeom>
          <a:noFill/>
          <a:ln w="38100">
            <a:solidFill>
              <a:srgbClr val="20C7B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201150" y="4191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r">
              <a:lnSpc>
                <a:spcPct val="108000"/>
              </a:lnSpc>
              <a:buNone/>
              <a:def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25" b="1">
                <a:solidFill>
                  <a:srgbClr val="94A3B8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14 / CONCLUSION</a:t>
            </a:r>
            <a:endParaRPr sz="825" b="1">
              <a:solidFill>
                <a:srgbClr val="94A3B8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742950" y="800100"/>
            <a:ext cx="480060" cy="480060"/>
          </a:xfrm>
          <a:prstGeom prst="roundRect">
            <a:avLst>
              <a:gd name="adj" fmla="val 23810"/>
            </a:avLst>
          </a:prstGeom>
          <a:solidFill>
            <a:srgbClr val="D8A53A"/>
          </a:solidFill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848563" y="896112"/>
            <a:ext cx="268834" cy="268834"/>
          </a:xfrm>
          <a:prstGeom prst="line">
            <a:avLst/>
          </a:prstGeom>
          <a:noFill/>
          <a:ln w="57150">
            <a:solidFill>
              <a:srgbClr val="081018"/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848563" y="896112"/>
            <a:ext cx="182423" cy="182423"/>
          </a:xfrm>
          <a:prstGeom prst="line">
            <a:avLst/>
          </a:prstGeom>
          <a:noFill/>
          <a:ln w="22860">
            <a:solidFill>
              <a:srgbClr val="081018"/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814959" y="872109"/>
            <a:ext cx="57607" cy="57607"/>
          </a:xfrm>
          <a:prstGeom prst="ellipse">
            <a:avLst/>
          </a:prstGeom>
          <a:solidFill>
            <a:srgbClr val="20C7B4"/>
          </a:solidFill>
          <a:ln w="0">
            <a:noFill/>
            <a:prstDash val="solid"/>
          </a:ln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1093394" y="1150544"/>
            <a:ext cx="57607" cy="57607"/>
          </a:xfrm>
          <a:prstGeom prst="ellipse">
            <a:avLst/>
          </a:prstGeom>
          <a:solidFill>
            <a:srgbClr val="081018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390650" y="8382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31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315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00100" y="1657350"/>
            <a:ext cx="971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5000"/>
              </a:lnSpc>
              <a:buNone/>
              <a:defRPr sz="22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4F7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YOLO26 + ONNX + 跟踪计数 + PyQt5 桌面端，构成了一套可运行、可展示、可继续扩展的车流量检测系统。</a:t>
            </a:r>
            <a:endParaRPr sz="2250" b="1">
              <a:solidFill>
                <a:srgbClr val="F4F7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952500" y="3048000"/>
            <a:ext cx="1714500" cy="1047750"/>
          </a:xfrm>
          <a:prstGeom prst="roundRect">
            <a:avLst>
              <a:gd name="adj" fmla="val 16364"/>
            </a:avLst>
          </a:prstGeom>
          <a:solidFill>
            <a:srgbClr val="101A28">
              <a:alpha val="96000"/>
            </a:srgbClr>
          </a:solidFill>
          <a:ln w="9525">
            <a:solidFill>
              <a:srgbClr val="30435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2" name="矩形 31"/>
          <p:cNvSpPr>
            <a:spLocks noGrp="1"/>
          </p:cNvSpPr>
          <p:nvPr/>
        </p:nvSpPr>
        <p:spPr>
          <a:xfrm>
            <a:off x="1123950" y="3219450"/>
            <a:ext cx="1371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1">
                <a:solidFill>
                  <a:srgbClr val="D8A53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63.62%</a:t>
            </a:r>
            <a:endParaRPr sz="2550" b="1">
              <a:solidFill>
                <a:srgbClr val="D8A53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23950" y="37338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mAP@0.5</a:t>
            </a:r>
            <a:endParaRPr sz="1125">
              <a:solidFill>
                <a:srgbClr val="B8C4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3048000" y="3048000"/>
            <a:ext cx="1714500" cy="1047750"/>
          </a:xfrm>
          <a:prstGeom prst="roundRect">
            <a:avLst>
              <a:gd name="adj" fmla="val 16364"/>
            </a:avLst>
          </a:prstGeom>
          <a:solidFill>
            <a:srgbClr val="101A28">
              <a:alpha val="96000"/>
            </a:srgbClr>
          </a:solidFill>
          <a:ln w="9525">
            <a:solidFill>
              <a:srgbClr val="30435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5" name="矩形 34"/>
          <p:cNvSpPr>
            <a:spLocks noGrp="1"/>
          </p:cNvSpPr>
          <p:nvPr/>
        </p:nvSpPr>
        <p:spPr>
          <a:xfrm>
            <a:off x="3219450" y="3219450"/>
            <a:ext cx="1371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20C7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1">
                <a:solidFill>
                  <a:srgbClr val="20C7B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80.37%</a:t>
            </a:r>
            <a:endParaRPr sz="2550" b="1">
              <a:solidFill>
                <a:srgbClr val="20C7B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219450" y="37338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Precision</a:t>
            </a:r>
            <a:endParaRPr sz="1125">
              <a:solidFill>
                <a:srgbClr val="B8C4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5143500" y="3048000"/>
            <a:ext cx="1714500" cy="1047750"/>
          </a:xfrm>
          <a:prstGeom prst="roundRect">
            <a:avLst>
              <a:gd name="adj" fmla="val 16364"/>
            </a:avLst>
          </a:prstGeom>
          <a:solidFill>
            <a:srgbClr val="101A28">
              <a:alpha val="96000"/>
            </a:srgbClr>
          </a:solidFill>
          <a:ln w="9525">
            <a:solidFill>
              <a:srgbClr val="30435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8" name="矩形 37"/>
          <p:cNvSpPr>
            <a:spLocks noGrp="1"/>
          </p:cNvSpPr>
          <p:nvPr/>
        </p:nvSpPr>
        <p:spPr>
          <a:xfrm>
            <a:off x="5314950" y="3219450"/>
            <a:ext cx="1371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4EA2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1">
                <a:solidFill>
                  <a:srgbClr val="4EA2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36</a:t>
            </a:r>
            <a:endParaRPr sz="2550" b="1">
              <a:solidFill>
                <a:srgbClr val="4EA2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314950" y="37338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 FPS</a:t>
            </a:r>
            <a:endParaRPr sz="1125">
              <a:solidFill>
                <a:srgbClr val="B8C4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7239000" y="3048000"/>
            <a:ext cx="1714500" cy="1047750"/>
          </a:xfrm>
          <a:prstGeom prst="roundRect">
            <a:avLst>
              <a:gd name="adj" fmla="val 16364"/>
            </a:avLst>
          </a:prstGeom>
          <a:solidFill>
            <a:srgbClr val="101A28">
              <a:alpha val="96000"/>
            </a:srgbClr>
          </a:solidFill>
          <a:ln w="9525">
            <a:solidFill>
              <a:srgbClr val="30435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1" name="矩形 40"/>
          <p:cNvSpPr>
            <a:spLocks noGrp="1"/>
          </p:cNvSpPr>
          <p:nvPr/>
        </p:nvSpPr>
        <p:spPr>
          <a:xfrm>
            <a:off x="7410450" y="3219450"/>
            <a:ext cx="1371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E96A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1">
                <a:solidFill>
                  <a:srgbClr val="E96A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</a:t>
            </a:r>
            <a:r>
              <a:rPr lang="en-US" sz="2550" b="1">
                <a:solidFill>
                  <a:srgbClr val="E96A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</a:t>
            </a:r>
            <a:endParaRPr lang="en-US" sz="2550" b="1">
              <a:solidFill>
                <a:srgbClr val="E96A5E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410450" y="37338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>
                <a:solidFill>
                  <a:srgbClr val="B8C4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测试车辆数</a:t>
            </a:r>
            <a:endParaRPr sz="1125">
              <a:solidFill>
                <a:srgbClr val="B8C4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353550" y="3257550"/>
            <a:ext cx="171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lnSpc>
                <a:spcPct val="108000"/>
              </a:lnSpc>
              <a:buNone/>
              <a:defRPr sz="3300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3300" b="1">
                <a:solidFill>
                  <a:srgbClr val="F1C66A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Q &amp; A</a:t>
            </a:r>
            <a:endParaRPr sz="3300" b="1">
              <a:solidFill>
                <a:srgbClr val="F1C66A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95350" y="558165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105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7180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参考：Ultralytics YOLO26、UA-DETRAC、ByteTrack 等；完整引用见报告文档。</a:t>
            </a:r>
            <a:endParaRPr sz="1050">
              <a:solidFill>
                <a:srgbClr val="7180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85800" y="632460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>
              <a:lnSpc>
                <a:spcPct val="108000"/>
              </a:lnSpc>
              <a:buNone/>
              <a:def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900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23人工智能1班 谒神月小组  /  15</a:t>
            </a:r>
            <a:endParaRPr sz="900">
              <a:solidFill>
                <a:srgbClr val="6474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97136" dir="4721404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97136" dir="4721404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3452</Words>
  <Application>WPS 演示</Application>
  <PresentationFormat>Converted Presentation</PresentationFormat>
  <Paragraphs>427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Consolas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WPS_1601687119</cp:lastModifiedBy>
  <cp:revision>3</cp:revision>
  <dcterms:created xsi:type="dcterms:W3CDTF">2026-06-24T03:16:00Z</dcterms:created>
  <dcterms:modified xsi:type="dcterms:W3CDTF">2026-06-24T04:56:38Z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C3BF2FD8C68B48728550EEC59D042B5C_12</vt:lpwstr>
  </property>
  <property fmtid="{D5CDD505-2E9C-101B-9397-08002B2CF9AE}" pid="3" name="KSOProductBuildVer">
    <vt:lpwstr>2052-12.1.0.21915</vt:lpwstr>
  </property>
</Properties>
</file>